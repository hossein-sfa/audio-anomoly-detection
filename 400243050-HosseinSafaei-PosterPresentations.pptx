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7"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pos="207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8" autoAdjust="0"/>
    <p:restoredTop sz="94694" autoAdjust="0"/>
  </p:normalViewPr>
  <p:slideViewPr>
    <p:cSldViewPr snapToGrid="0" snapToObjects="1" showGuides="1">
      <p:cViewPr>
        <p:scale>
          <a:sx n="52" d="100"/>
          <a:sy n="52" d="100"/>
        </p:scale>
        <p:origin x="-712" y="-4200"/>
      </p:cViewPr>
      <p:guideLst>
        <p:guide orient="horz" pos="3318"/>
        <p:guide orient="horz" pos="288"/>
        <p:guide orient="horz" pos="20160"/>
        <p:guide orient="horz"/>
        <p:guide pos="581"/>
        <p:guide pos="27069"/>
        <p:guide pos="2074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4/12/26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4/12/26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2456271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نتیجه‌گیری و روال‌های موجود برای کارهای آتی</a:t>
            </a:r>
            <a:endParaRPr lang="en-US" dirty="0"/>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منابع</a:t>
            </a:r>
            <a:endParaRPr lang="en-US" dirty="0"/>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مرور کارهای انجام شده</a:t>
            </a:r>
            <a:endParaRPr lang="en-US" dirty="0"/>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t>
            </a:r>
            <a:r>
              <a:rPr lang="fa-IR" dirty="0"/>
              <a:t>طرح مسئله</a:t>
            </a:r>
            <a:endParaRPr lang="en-US" dirty="0"/>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a:t>
            </a:r>
            <a:r>
              <a:rPr lang="fa-IR" dirty="0"/>
              <a:t>ادبیات پژوهش</a:t>
            </a:r>
            <a:endParaRPr lang="en-US" dirty="0"/>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lgn="r" rtl="1">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fa-IR" dirty="0"/>
              <a:t>محتوای خود را اینجا وارد کنید</a:t>
            </a:r>
            <a:endParaRPr lang="en-US" dirty="0"/>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نام استاد راهنما</a:t>
            </a:r>
            <a:endParaRPr lang="en-US" dirty="0"/>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نام دانشجو</a:t>
            </a:r>
            <a:endParaRPr lang="en-US" dirty="0"/>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fa-IR" dirty="0"/>
              <a:t>عنوان پوستر</a:t>
            </a:r>
            <a:endParaRPr lang="en-US" dirty="0"/>
          </a:p>
        </p:txBody>
      </p:sp>
      <p:sp>
        <p:nvSpPr>
          <p:cNvPr id="31" name="TextBox 30"/>
          <p:cNvSpPr txBox="1"/>
          <p:nvPr userDrawn="1"/>
        </p:nvSpPr>
        <p:spPr>
          <a:xfrm>
            <a:off x="14272591" y="9899374"/>
            <a:ext cx="4134679" cy="477054"/>
          </a:xfrm>
          <a:prstGeom prst="rect">
            <a:avLst/>
          </a:prstGeom>
          <a:noFill/>
        </p:spPr>
        <p:txBody>
          <a:bodyPr wrap="square" rtlCol="0">
            <a:spAutoFit/>
          </a:bodyPr>
          <a:lstStyle/>
          <a:p>
            <a:endParaRPr lang="en-US" sz="2500" dirty="0">
              <a:solidFill>
                <a:schemeClr val="accent5">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54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96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9.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9.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8" name="Rectangle 67"/>
          <p:cNvSpPr/>
          <p:nvPr userDrawn="1"/>
        </p:nvSpPr>
        <p:spPr>
          <a:xfrm rot="10800000">
            <a:off x="0"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userDrawn="1"/>
        </p:nvSpPr>
        <p:spPr>
          <a:xfrm>
            <a:off x="446073" y="5475145"/>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p:cNvSpPr/>
          <p:nvPr userDrawn="1"/>
        </p:nvSpPr>
        <p:spPr>
          <a:xfrm>
            <a:off x="11428937" y="5475142"/>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22411801" y="5475143"/>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userDrawn="1"/>
        </p:nvSpPr>
        <p:spPr>
          <a:xfrm>
            <a:off x="33394664" y="5475144"/>
            <a:ext cx="10058400"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36"/>
          <p:cNvSpPr>
            <a:spLocks noChangeArrowheads="1"/>
          </p:cNvSpPr>
          <p:nvPr/>
        </p:nvSpPr>
        <p:spPr bwMode="auto">
          <a:xfrm>
            <a:off x="0" y="0"/>
            <a:ext cx="43891200" cy="4800600"/>
          </a:xfrm>
          <a:prstGeom prst="rect">
            <a:avLst/>
          </a:prstGeom>
          <a:noFill/>
          <a:ln w="9525">
            <a:no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6" name="Rectangle 5"/>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Table 13">
            <a:extLst>
              <a:ext uri="{FF2B5EF4-FFF2-40B4-BE49-F238E27FC236}">
                <a16:creationId xmlns:a16="http://schemas.microsoft.com/office/drawing/2014/main" id="{5E7E35C1-C5E6-D449-BDEC-ABC64AD5AC16}"/>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A320BF44-9B9A-C84B-83BB-0BF518EB46F3}"/>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3" name="Picture 2">
            <a:extLst>
              <a:ext uri="{FF2B5EF4-FFF2-40B4-BE49-F238E27FC236}">
                <a16:creationId xmlns:a16="http://schemas.microsoft.com/office/drawing/2014/main" id="{0122D122-A46F-4A64-8521-6A9703AE9046}"/>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ectangle 39"/>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484177" y="32306273"/>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9" name="Rectangle 38"/>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userDrawn="1"/>
        </p:nvSpPr>
        <p:spPr>
          <a:xfrm>
            <a:off x="29382628" y="5392017"/>
            <a:ext cx="13577436" cy="26757874"/>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5156882" y="5370818"/>
            <a:ext cx="13577436" cy="26779073"/>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p:cNvSpPr/>
          <p:nvPr userDrawn="1"/>
        </p:nvSpPr>
        <p:spPr>
          <a:xfrm>
            <a:off x="931136" y="5413216"/>
            <a:ext cx="13577436" cy="2673667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C75130E6-6704-644C-A719-D96EFFB272F3}"/>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2" name="Table 11">
            <a:extLst>
              <a:ext uri="{FF2B5EF4-FFF2-40B4-BE49-F238E27FC236}">
                <a16:creationId xmlns:a16="http://schemas.microsoft.com/office/drawing/2014/main" id="{2381AE59-5942-394D-8867-C092283E8235}"/>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2" name="Picture 1">
            <a:extLst>
              <a:ext uri="{FF2B5EF4-FFF2-40B4-BE49-F238E27FC236}">
                <a16:creationId xmlns:a16="http://schemas.microsoft.com/office/drawing/2014/main" id="{6FB69535-EDF1-488D-A1B1-881C96D4A01C}"/>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484177" y="32232601"/>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37" name="Rectangle 36"/>
          <p:cNvSpPr/>
          <p:nvPr userDrawn="1"/>
        </p:nvSpPr>
        <p:spPr>
          <a:xfrm rot="10800000">
            <a:off x="-6419" y="31869601"/>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userDrawn="1"/>
        </p:nvSpPr>
        <p:spPr>
          <a:xfrm>
            <a:off x="0" y="-55065"/>
            <a:ext cx="43891200"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userDrawn="1"/>
        </p:nvSpPr>
        <p:spPr>
          <a:xfrm>
            <a:off x="6096" y="4742487"/>
            <a:ext cx="43891200"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 Box 14"/>
          <p:cNvSpPr txBox="1">
            <a:spLocks noChangeArrowheads="1"/>
          </p:cNvSpPr>
          <p:nvPr userDrawn="1"/>
        </p:nvSpPr>
        <p:spPr bwMode="auto">
          <a:xfrm>
            <a:off x="1484177" y="32306273"/>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11" name="Table 10">
            <a:extLst>
              <a:ext uri="{FF2B5EF4-FFF2-40B4-BE49-F238E27FC236}">
                <a16:creationId xmlns:a16="http://schemas.microsoft.com/office/drawing/2014/main" id="{C1C9EC77-7FF5-5E4F-9D40-E8ECD338CE67}"/>
              </a:ext>
            </a:extLst>
          </p:cNvPr>
          <p:cNvGraphicFramePr>
            <a:graphicFrameLocks noGrp="1"/>
          </p:cNvGraphicFramePr>
          <p:nvPr userDrawn="1">
            <p:extLst>
              <p:ext uri="{D42A27DB-BD31-4B8C-83A1-F6EECF244321}">
                <p14:modId xmlns:p14="http://schemas.microsoft.com/office/powerpoint/2010/main" val="122335393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standard screen size (4:3 Ratio) virtual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9" name="Table 8">
            <a:extLst>
              <a:ext uri="{FF2B5EF4-FFF2-40B4-BE49-F238E27FC236}">
                <a16:creationId xmlns:a16="http://schemas.microsoft.com/office/drawing/2014/main" id="{8EA12BE2-365E-9447-A07A-009B23598B4B}"/>
              </a:ext>
            </a:extLst>
          </p:cNvPr>
          <p:cNvGraphicFramePr>
            <a:graphicFrameLocks noGrp="1"/>
          </p:cNvGraphicFramePr>
          <p:nvPr userDrawn="1">
            <p:extLst>
              <p:ext uri="{D42A27DB-BD31-4B8C-83A1-F6EECF244321}">
                <p14:modId xmlns:p14="http://schemas.microsoft.com/office/powerpoint/2010/main" val="141159618"/>
              </p:ext>
            </p:extLst>
          </p:nvPr>
        </p:nvGraphicFramePr>
        <p:xfrm>
          <a:off x="44635119" y="14098"/>
          <a:ext cx="9619281" cy="32847657"/>
        </p:xfrm>
        <a:graphic>
          <a:graphicData uri="http://schemas.openxmlformats.org/drawingml/2006/table">
            <a:tbl>
              <a:tblPr firstRow="1" bandRow="1">
                <a:tableStyleId>{5C22544A-7EE6-4342-B048-85BDC9FD1C3A}</a:tableStyleId>
              </a:tblPr>
              <a:tblGrid>
                <a:gridCol w="3585856">
                  <a:extLst>
                    <a:ext uri="{9D8B030D-6E8A-4147-A177-3AD203B41FA5}">
                      <a16:colId xmlns:a16="http://schemas.microsoft.com/office/drawing/2014/main" val="20000"/>
                    </a:ext>
                  </a:extLst>
                </a:gridCol>
                <a:gridCol w="1199648">
                  <a:extLst>
                    <a:ext uri="{9D8B030D-6E8A-4147-A177-3AD203B41FA5}">
                      <a16:colId xmlns:a16="http://schemas.microsoft.com/office/drawing/2014/main" val="997673227"/>
                    </a:ext>
                  </a:extLst>
                </a:gridCol>
                <a:gridCol w="4833777">
                  <a:extLst>
                    <a:ext uri="{9D8B030D-6E8A-4147-A177-3AD203B41FA5}">
                      <a16:colId xmlns:a16="http://schemas.microsoft.com/office/drawing/2014/main" val="4164475170"/>
                    </a:ext>
                  </a:extLst>
                </a:gridCol>
              </a:tblGrid>
              <a:tr h="1296236">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76923">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2854805">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35361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391719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672668">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1743746">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a:cs typeface="Arial"/>
                      </a:endParaRP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8073404">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Publish, present virtually, share, and discuss!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Submit your poster and add it to the Research Poster Virtual Library.</a:t>
                      </a:r>
                      <a:br>
                        <a:rPr lang="en-US" sz="2400" b="0" noProof="0" dirty="0">
                          <a:solidFill>
                            <a:srgbClr val="FFC000"/>
                          </a:solidFill>
                          <a:latin typeface="Arial"/>
                          <a:cs typeface="Arial"/>
                        </a:rPr>
                      </a:br>
                      <a:br>
                        <a:rPr lang="en-US" sz="2400" b="0" noProof="0" dirty="0">
                          <a:solidFill>
                            <a:srgbClr val="FFC000"/>
                          </a:solidFill>
                          <a:latin typeface="Arial"/>
                          <a:cs typeface="Arial"/>
                        </a:rPr>
                      </a:br>
                      <a:r>
                        <a:rPr lang="en-US" sz="2400" b="1" noProof="0" dirty="0">
                          <a:solidFill>
                            <a:srgbClr val="FFC000"/>
                          </a:solidFill>
                          <a:latin typeface="Arial"/>
                          <a:cs typeface="Arial"/>
                        </a:rPr>
                        <a:t>Continuous global reach</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Share your research with thousands of students, educators, scientists, and researchers from all over the United States and the World.</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Full-featured poster showcase included</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Convenience for presenter groups and conference coordinators </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0" noProof="0" dirty="0">
                          <a:solidFill>
                            <a:schemeClr val="bg1"/>
                          </a:solidFill>
                          <a:latin typeface="Arial"/>
                          <a:cs typeface="Arial"/>
                        </a:rPr>
                        <a:t>Published posters can easily be presented at virtual conferences. Perfect solution for organizers of meetings and conferences.</a:t>
                      </a:r>
                      <a:br>
                        <a:rPr lang="en-US" sz="2400" b="0" noProof="0" dirty="0">
                          <a:solidFill>
                            <a:srgbClr val="FFC000"/>
                          </a:solidFill>
                          <a:latin typeface="Arial"/>
                          <a:cs typeface="Arial"/>
                        </a:rPr>
                      </a:br>
                      <a:endParaRPr lang="en-US" sz="2400" b="0" noProof="0" dirty="0">
                        <a:solidFill>
                          <a:srgbClr val="FFC000"/>
                        </a:solidFill>
                        <a:latin typeface="Arial"/>
                        <a:cs typeface="Arial"/>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2900" b="1" noProof="0" dirty="0">
                          <a:solidFill>
                            <a:srgbClr val="FFC000"/>
                          </a:solidFill>
                          <a:latin typeface="Arial"/>
                          <a:cs typeface="Arial"/>
                        </a:rPr>
                        <a:t>https://</a:t>
                      </a:r>
                      <a:r>
                        <a:rPr lang="en-US" sz="2900" b="1" noProof="0" dirty="0" err="1">
                          <a:solidFill>
                            <a:srgbClr val="FFC000"/>
                          </a:solidFill>
                          <a:latin typeface="Arial"/>
                          <a:cs typeface="Arial"/>
                        </a:rPr>
                        <a:t>www.PosterPresentations.com</a:t>
                      </a:r>
                      <a:r>
                        <a:rPr lang="en-US" sz="2900" b="1" noProof="0" dirty="0">
                          <a:solidFill>
                            <a:srgbClr val="FFC000"/>
                          </a:solidFill>
                          <a:latin typeface="Arial"/>
                          <a:cs typeface="Arial"/>
                        </a:rPr>
                        <a:t>/research</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1" noProof="0" dirty="0">
                        <a:solidFill>
                          <a:srgbClr val="FFC000"/>
                        </a:solidFill>
                        <a:latin typeface="Arial"/>
                        <a:cs typeface="Arial"/>
                      </a:endParaRPr>
                    </a:p>
                  </a:txBody>
                  <a:tcPr marL="182880" marT="137160">
                    <a:solidFill>
                      <a:srgbClr val="00336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48051497"/>
                  </a:ext>
                </a:extLst>
              </a:tr>
              <a:tr h="1176075">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00444">
                <a:tc>
                  <a:txBody>
                    <a:bodyPr/>
                    <a:lstStyle/>
                    <a:p>
                      <a:pPr>
                        <a:lnSpc>
                          <a:spcPts val="2600"/>
                        </a:lnSpc>
                      </a:pPr>
                      <a:r>
                        <a:rPr lang="en-US" sz="2100" dirty="0">
                          <a:solidFill>
                            <a:schemeClr val="bg1">
                              <a:lumMod val="85000"/>
                            </a:schemeClr>
                          </a:solidFill>
                          <a:latin typeface="Arial"/>
                          <a:cs typeface="Arial"/>
                        </a:rPr>
                        <a:t>© 2020</a:t>
                      </a:r>
                      <a:r>
                        <a:rPr lang="en-US" sz="2100" baseline="0" dirty="0">
                          <a:solidFill>
                            <a:schemeClr val="bg1">
                              <a:lumMod val="85000"/>
                            </a:schemeClr>
                          </a:solidFill>
                          <a:latin typeface="Arial"/>
                          <a:cs typeface="Arial"/>
                        </a:rPr>
                        <a:t> </a:t>
                      </a:r>
                      <a:r>
                        <a:rPr lang="en-US" sz="2100" dirty="0" err="1">
                          <a:solidFill>
                            <a:schemeClr val="bg1">
                              <a:lumMod val="85000"/>
                            </a:schemeClr>
                          </a:solidFill>
                          <a:latin typeface="Arial"/>
                          <a:cs typeface="Arial"/>
                        </a:rPr>
                        <a:t>PosterPresentations.com</a:t>
                      </a:r>
                      <a:br>
                        <a:rPr lang="en-US" sz="2100" dirty="0">
                          <a:solidFill>
                            <a:schemeClr val="bg1">
                              <a:lumMod val="85000"/>
                            </a:schemeClr>
                          </a:solidFill>
                          <a:latin typeface="Arial"/>
                          <a:cs typeface="Arial"/>
                        </a:rPr>
                      </a:br>
                      <a:r>
                        <a:rPr lang="en-US" sz="2100" dirty="0">
                          <a:solidFill>
                            <a:schemeClr val="bg1">
                              <a:lumMod val="85000"/>
                            </a:schemeClr>
                          </a:solidFill>
                          <a:latin typeface="Arial"/>
                          <a:cs typeface="Arial"/>
                        </a:rPr>
                        <a:t>2117 Fourth Street ,</a:t>
                      </a:r>
                      <a:r>
                        <a:rPr lang="en-US" sz="2100" baseline="0" dirty="0">
                          <a:solidFill>
                            <a:schemeClr val="bg1">
                              <a:lumMod val="85000"/>
                            </a:schemeClr>
                          </a:solidFill>
                          <a:latin typeface="Arial"/>
                          <a:cs typeface="Arial"/>
                        </a:rPr>
                        <a:t> STE C        </a:t>
                      </a:r>
                    </a:p>
                    <a:p>
                      <a:pPr>
                        <a:lnSpc>
                          <a:spcPts val="2600"/>
                        </a:lnSpc>
                      </a:pPr>
                      <a:r>
                        <a:rPr lang="en-US" sz="2100" baseline="0" dirty="0">
                          <a:solidFill>
                            <a:schemeClr val="bg1">
                              <a:lumMod val="85000"/>
                            </a:schemeClr>
                          </a:solidFill>
                          <a:latin typeface="Arial"/>
                          <a:cs typeface="Arial"/>
                        </a:rPr>
                        <a:t>Berkeley CA 94710 USA</a:t>
                      </a:r>
                      <a:endParaRPr lang="en-US" sz="21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pic>
        <p:nvPicPr>
          <p:cNvPr id="2" name="Picture 1">
            <a:extLst>
              <a:ext uri="{FF2B5EF4-FFF2-40B4-BE49-F238E27FC236}">
                <a16:creationId xmlns:a16="http://schemas.microsoft.com/office/drawing/2014/main" id="{9469689F-852D-4F8C-AF34-550451A9173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214955" y="325042"/>
            <a:ext cx="2709763" cy="2709763"/>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2B0A12F5-E9ED-4315-A166-C99ABC61051B}"/>
              </a:ext>
            </a:extLst>
          </p:cNvPr>
          <p:cNvSpPr>
            <a:spLocks noGrp="1"/>
          </p:cNvSpPr>
          <p:nvPr>
            <p:ph type="body" sz="quarter" idx="10"/>
          </p:nvPr>
        </p:nvSpPr>
        <p:spPr>
          <a:xfrm>
            <a:off x="904186" y="6295353"/>
            <a:ext cx="13591277" cy="8386889"/>
          </a:xfrm>
        </p:spPr>
        <p:txBody>
          <a:bodyPr/>
          <a:lstStyle/>
          <a:p>
            <a:pPr algn="just"/>
            <a:r>
              <a:rPr lang="fa-IR" b="0" i="0" dirty="0">
                <a:effectLst/>
                <a:latin typeface="IRNazanin" panose="02000506000000020002" pitchFamily="2" charset="-78"/>
                <a:cs typeface="IRNazanin" panose="02000506000000020002" pitchFamily="2" charset="-78"/>
              </a:rPr>
              <a:t>در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پایش محیطی موجود، تشخیص رخدادهای امنیتی عمدتا بر پایه تحلیل تصویر و نظارت انسانی انجام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و نقش داده صوتی در این </a:t>
            </a:r>
            <a:r>
              <a:rPr lang="fa-IR" b="0" i="0" dirty="0" err="1">
                <a:effectLst/>
                <a:latin typeface="IRNazanin" panose="02000506000000020002" pitchFamily="2" charset="-78"/>
                <a:cs typeface="IRNazanin" panose="02000506000000020002" pitchFamily="2" charset="-78"/>
              </a:rPr>
              <a:t>سیستم‌ها</a:t>
            </a:r>
            <a:r>
              <a:rPr lang="fa-IR" b="0" i="0" dirty="0">
                <a:effectLst/>
                <a:latin typeface="IRNazanin" panose="02000506000000020002" pitchFamily="2" charset="-78"/>
                <a:cs typeface="IRNazanin" panose="02000506000000020002" pitchFamily="2" charset="-78"/>
              </a:rPr>
              <a:t> بسیار محدود یا حتی نادیده گرفته شده است. این در حالی است که بسیاری از رخدادهای بحرانی مانند شکستن شیشه، شلیک یا فریاد، پیش از مشاهده شدن در تصویر در قالب </a:t>
            </a:r>
            <a:r>
              <a:rPr lang="fa-IR" b="0" i="0" dirty="0" err="1">
                <a:effectLst/>
                <a:latin typeface="IRNazanin" panose="02000506000000020002" pitchFamily="2" charset="-78"/>
                <a:cs typeface="IRNazanin" panose="02000506000000020002" pitchFamily="2" charset="-78"/>
              </a:rPr>
              <a:t>نشانه‌های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کوتاه‌مدت</a:t>
            </a:r>
            <a:r>
              <a:rPr lang="fa-IR" b="0" i="0" dirty="0">
                <a:effectLst/>
                <a:latin typeface="IRNazanin" panose="02000506000000020002" pitchFamily="2" charset="-78"/>
                <a:cs typeface="IRNazanin" panose="02000506000000020002" pitchFamily="2" charset="-78"/>
              </a:rPr>
              <a:t> صوتی بروز </a:t>
            </a:r>
            <a:r>
              <a:rPr lang="fa-IR" b="0" i="0" dirty="0" err="1">
                <a:effectLst/>
                <a:latin typeface="IRNazanin" panose="02000506000000020002" pitchFamily="2" charset="-78"/>
                <a:cs typeface="IRNazanin" panose="02000506000000020002" pitchFamily="2" charset="-78"/>
              </a:rPr>
              <a:t>می‌کنند</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روش‌های</a:t>
            </a:r>
            <a:r>
              <a:rPr lang="fa-IR" b="0" i="0" dirty="0">
                <a:effectLst/>
                <a:latin typeface="IRNazanin" panose="02000506000000020002" pitchFamily="2" charset="-78"/>
                <a:cs typeface="IRNazanin" panose="02000506000000020002" pitchFamily="2" charset="-78"/>
              </a:rPr>
              <a:t> متداول پردازش صوت نیز معمولا تنها از </a:t>
            </a:r>
            <a:r>
              <a:rPr lang="fa-IR" b="0" i="0" dirty="0" err="1">
                <a:effectLst/>
                <a:latin typeface="IRNazanin" panose="02000506000000020002" pitchFamily="2" charset="-78"/>
                <a:cs typeface="IRNazanin" panose="02000506000000020002" pitchFamily="2" charset="-78"/>
              </a:rPr>
              <a:t>ویژگی‌های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طیفی</a:t>
            </a:r>
            <a:r>
              <a:rPr lang="fa-IR" b="0" i="0" dirty="0">
                <a:effectLst/>
                <a:latin typeface="IRNazanin" panose="02000506000000020002" pitchFamily="2" charset="-78"/>
                <a:cs typeface="IRNazanin" panose="02000506000000020002" pitchFamily="2" charset="-78"/>
              </a:rPr>
              <a:t> مانند </a:t>
            </a:r>
            <a:r>
              <a:rPr lang="fa-IR" b="0" i="0" dirty="0" err="1">
                <a:effectLst/>
                <a:latin typeface="IRNazanin" panose="02000506000000020002" pitchFamily="2" charset="-78"/>
                <a:cs typeface="IRNazanin" panose="02000506000000020002" pitchFamily="2" charset="-78"/>
              </a:rPr>
              <a:t>اسپکتوگرام</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لاگ</a:t>
            </a:r>
            <a:r>
              <a:rPr lang="fa-IR" b="0" i="0" dirty="0">
                <a:effectLst/>
                <a:latin typeface="IRNazanin" panose="02000506000000020002" pitchFamily="2" charset="-78"/>
                <a:cs typeface="IRNazanin" panose="02000506000000020002" pitchFamily="2" charset="-78"/>
              </a:rPr>
              <a:t> مل استفاده </a:t>
            </a:r>
            <a:r>
              <a:rPr lang="fa-IR" b="0" i="0" dirty="0" err="1">
                <a:effectLst/>
                <a:latin typeface="IRNazanin" panose="02000506000000020002" pitchFamily="2" charset="-78"/>
                <a:cs typeface="IRNazanin" panose="02000506000000020002" pitchFamily="2" charset="-78"/>
              </a:rPr>
              <a:t>می‌کنند</a:t>
            </a:r>
            <a:r>
              <a:rPr lang="fa-IR" b="0" i="0" dirty="0">
                <a:effectLst/>
                <a:latin typeface="IRNazanin" panose="02000506000000020002" pitchFamily="2" charset="-78"/>
                <a:cs typeface="IRNazanin" panose="02000506000000020002" pitchFamily="2" charset="-78"/>
              </a:rPr>
              <a:t> که در </a:t>
            </a:r>
            <a:r>
              <a:rPr lang="fa-IR" b="0" i="0" dirty="0" err="1">
                <a:effectLst/>
                <a:latin typeface="IRNazanin" panose="02000506000000020002" pitchFamily="2" charset="-78"/>
                <a:cs typeface="IRNazanin" panose="02000506000000020002" pitchFamily="2" charset="-78"/>
              </a:rPr>
              <a:t>محیط‌های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پرنویز</a:t>
            </a:r>
            <a:r>
              <a:rPr lang="fa-IR" b="0" i="0" dirty="0">
                <a:effectLst/>
                <a:latin typeface="IRNazanin" panose="02000506000000020002" pitchFamily="2" charset="-78"/>
                <a:cs typeface="IRNazanin" panose="02000506000000020002" pitchFamily="2" charset="-78"/>
              </a:rPr>
              <a:t> و رخدادهای </a:t>
            </a:r>
            <a:r>
              <a:rPr lang="fa-IR" b="0" i="0" dirty="0" err="1">
                <a:effectLst/>
                <a:latin typeface="IRNazanin" panose="02000506000000020002" pitchFamily="2" charset="-78"/>
                <a:cs typeface="IRNazanin" panose="02000506000000020002" pitchFamily="2" charset="-78"/>
              </a:rPr>
              <a:t>کوتاه‌مدت</a:t>
            </a:r>
            <a:r>
              <a:rPr lang="fa-IR" b="0" i="0" dirty="0">
                <a:effectLst/>
                <a:latin typeface="IRNazanin" panose="02000506000000020002" pitchFamily="2" charset="-78"/>
                <a:cs typeface="IRNazanin" panose="02000506000000020002" pitchFamily="2" charset="-78"/>
              </a:rPr>
              <a:t> کارایی کافی ندارند و در شرایط واقعی دقت پایینی دارند. همچنین عدم توازن داده میان رخدادها و حالت بدون رخداد باعث کاهش پایداری </a:t>
            </a:r>
            <a:r>
              <a:rPr lang="fa-IR" b="0" i="0" dirty="0" err="1">
                <a:effectLst/>
                <a:latin typeface="IRNazanin" panose="02000506000000020002" pitchFamily="2" charset="-78"/>
                <a:cs typeface="IRNazanin" panose="02000506000000020002" pitchFamily="2" charset="-78"/>
              </a:rPr>
              <a:t>مدل‌های</a:t>
            </a:r>
            <a:r>
              <a:rPr lang="fa-IR" b="0" i="0" dirty="0">
                <a:effectLst/>
                <a:latin typeface="IRNazanin" panose="02000506000000020002" pitchFamily="2" charset="-78"/>
                <a:cs typeface="IRNazanin" panose="02000506000000020002" pitchFamily="2" charset="-78"/>
              </a:rPr>
              <a:t> سنتی شده و استفاده از </a:t>
            </a:r>
            <a:r>
              <a:rPr lang="fa-IR" b="0" i="0" dirty="0" err="1">
                <a:effectLst/>
                <a:latin typeface="IRNazanin" panose="02000506000000020002" pitchFamily="2" charset="-78"/>
                <a:cs typeface="IRNazanin" panose="02000506000000020002" pitchFamily="2" charset="-78"/>
              </a:rPr>
              <a:t>آن‌ها</a:t>
            </a:r>
            <a:r>
              <a:rPr lang="fa-IR" b="0" i="0" dirty="0">
                <a:effectLst/>
                <a:latin typeface="IRNazanin" panose="02000506000000020002" pitchFamily="2" charset="-78"/>
                <a:cs typeface="IRNazanin" panose="02000506000000020002" pitchFamily="2" charset="-78"/>
              </a:rPr>
              <a:t> در </a:t>
            </a:r>
            <a:r>
              <a:rPr lang="fa-IR" b="0" i="0" dirty="0" err="1">
                <a:effectLst/>
                <a:latin typeface="IRNazanin" panose="02000506000000020002" pitchFamily="2" charset="-78"/>
                <a:cs typeface="IRNazanin" panose="02000506000000020002" pitchFamily="2" charset="-78"/>
              </a:rPr>
              <a:t>سناریوهای</a:t>
            </a:r>
            <a:r>
              <a:rPr lang="fa-IR" b="0" i="0" dirty="0">
                <a:effectLst/>
                <a:latin typeface="IRNazanin" panose="02000506000000020002" pitchFamily="2" charset="-78"/>
                <a:cs typeface="IRNazanin" panose="02000506000000020002" pitchFamily="2" charset="-78"/>
              </a:rPr>
              <a:t> امنیتی را دشوار </a:t>
            </a:r>
            <a:r>
              <a:rPr lang="fa-IR" b="0" i="0" dirty="0" err="1">
                <a:effectLst/>
                <a:latin typeface="IRNazanin" panose="02000506000000020002" pitchFamily="2" charset="-78"/>
                <a:cs typeface="IRNazanin" panose="02000506000000020002" pitchFamily="2" charset="-78"/>
              </a:rPr>
              <a:t>می‌کند</a:t>
            </a:r>
            <a:r>
              <a:rPr lang="fa-IR" b="0" i="0" dirty="0">
                <a:effectLst/>
                <a:latin typeface="IRNazanin" panose="02000506000000020002" pitchFamily="2" charset="-78"/>
                <a:cs typeface="IRNazanin" panose="02000506000000020002" pitchFamily="2" charset="-78"/>
              </a:rPr>
              <a:t>.</a:t>
            </a:r>
          </a:p>
          <a:p>
            <a:pPr algn="just"/>
            <a:r>
              <a:rPr lang="fa-IR" b="0" i="0" dirty="0">
                <a:effectLst/>
                <a:latin typeface="IRNazanin" panose="02000506000000020002" pitchFamily="2" charset="-78"/>
                <a:cs typeface="IRNazanin" panose="02000506000000020002" pitchFamily="2" charset="-78"/>
              </a:rPr>
              <a:t>در این پروژه، با هدف رفع این </a:t>
            </a:r>
            <a:r>
              <a:rPr lang="fa-IR" b="0" i="0" dirty="0" err="1">
                <a:effectLst/>
                <a:latin typeface="IRNazanin" panose="02000506000000020002" pitchFamily="2" charset="-78"/>
                <a:cs typeface="IRNazanin" panose="02000506000000020002" pitchFamily="2" charset="-78"/>
              </a:rPr>
              <a:t>محدودیت‌ها</a:t>
            </a:r>
            <a:r>
              <a:rPr lang="fa-IR" b="0" i="0" dirty="0">
                <a:effectLst/>
                <a:latin typeface="IRNazanin" panose="02000506000000020002" pitchFamily="2" charset="-78"/>
                <a:cs typeface="IRNazanin" panose="02000506000000020002" pitchFamily="2" charset="-78"/>
              </a:rPr>
              <a:t>، فرایند استخراج ویژگی و طراحی مدل </a:t>
            </a:r>
            <a:r>
              <a:rPr lang="fa-IR" b="0" i="0" dirty="0" err="1">
                <a:effectLst/>
                <a:latin typeface="IRNazanin" panose="02000506000000020002" pitchFamily="2" charset="-78"/>
                <a:cs typeface="IRNazanin" panose="02000506000000020002" pitchFamily="2" charset="-78"/>
              </a:rPr>
              <a:t>بازطراحی</a:t>
            </a:r>
            <a:r>
              <a:rPr lang="fa-IR" b="0" i="0" dirty="0">
                <a:effectLst/>
                <a:latin typeface="IRNazanin" panose="02000506000000020002" pitchFamily="2" charset="-78"/>
                <a:cs typeface="IRNazanin" panose="02000506000000020002" pitchFamily="2" charset="-78"/>
              </a:rPr>
              <a:t> شد تا بتواند اطلاعات صوتی را در دو حوزه زمان و فرکانس </a:t>
            </a:r>
            <a:r>
              <a:rPr lang="fa-IR" b="0" i="0" dirty="0" err="1">
                <a:effectLst/>
                <a:latin typeface="IRNazanin" panose="02000506000000020002" pitchFamily="2" charset="-78"/>
                <a:cs typeface="IRNazanin" panose="02000506000000020002" pitchFamily="2" charset="-78"/>
              </a:rPr>
              <a:t>به‌صورت</a:t>
            </a:r>
            <a:r>
              <a:rPr lang="fa-IR" b="0" i="0" dirty="0">
                <a:effectLst/>
                <a:latin typeface="IRNazanin" panose="02000506000000020002" pitchFamily="2" charset="-78"/>
                <a:cs typeface="IRNazanin" panose="02000506000000020002" pitchFamily="2" charset="-78"/>
              </a:rPr>
              <a:t> مکمل تحلیل کند. ابتدا </a:t>
            </a:r>
            <a:r>
              <a:rPr lang="fa-IR" b="0" i="0" dirty="0" err="1">
                <a:effectLst/>
                <a:latin typeface="IRNazanin" panose="02000506000000020002" pitchFamily="2" charset="-78"/>
                <a:cs typeface="IRNazanin" panose="02000506000000020002" pitchFamily="2" charset="-78"/>
              </a:rPr>
              <a:t>داده‌های</a:t>
            </a:r>
            <a:r>
              <a:rPr lang="fa-IR" b="0" i="0" dirty="0">
                <a:effectLst/>
                <a:latin typeface="IRNazanin" panose="02000506000000020002" pitchFamily="2" charset="-78"/>
                <a:cs typeface="IRNazanin" panose="02000506000000020002" pitchFamily="2" charset="-78"/>
              </a:rPr>
              <a:t> صوتی با نرخ </a:t>
            </a:r>
            <a:r>
              <a:rPr lang="fa-IR" b="0" i="0" dirty="0" err="1">
                <a:effectLst/>
                <a:latin typeface="IRNazanin" panose="02000506000000020002" pitchFamily="2" charset="-78"/>
                <a:cs typeface="IRNazanin" panose="02000506000000020002" pitchFamily="2" charset="-78"/>
              </a:rPr>
              <a:t>نمونه‌برداری</a:t>
            </a:r>
            <a:r>
              <a:rPr lang="fa-IR" b="0" i="0" dirty="0">
                <a:effectLst/>
                <a:latin typeface="IRNazanin" panose="02000506000000020002" pitchFamily="2" charset="-78"/>
                <a:cs typeface="IRNazanin" panose="02000506000000020002" pitchFamily="2" charset="-78"/>
              </a:rPr>
              <a:t> مشخص پردازش و برای هر نمونه، نمایش </a:t>
            </a:r>
            <a:r>
              <a:rPr lang="fa-IR" b="0" i="0" dirty="0" err="1">
                <a:effectLst/>
                <a:latin typeface="IRNazanin" panose="02000506000000020002" pitchFamily="2" charset="-78"/>
                <a:cs typeface="IRNazanin" panose="02000506000000020002" pitchFamily="2" charset="-78"/>
              </a:rPr>
              <a:t>لاگ</a:t>
            </a:r>
            <a:r>
              <a:rPr lang="fa-IR" b="0" i="0" dirty="0">
                <a:effectLst/>
                <a:latin typeface="IRNazanin" panose="02000506000000020002" pitchFamily="2" charset="-78"/>
                <a:cs typeface="IRNazanin" panose="02000506000000020002" pitchFamily="2" charset="-78"/>
              </a:rPr>
              <a:t> مل و سیگنال خام </a:t>
            </a:r>
            <a:r>
              <a:rPr lang="fa-IR" b="0" i="0" dirty="0" err="1">
                <a:effectLst/>
                <a:latin typeface="IRNazanin" panose="02000506000000020002" pitchFamily="2" charset="-78"/>
                <a:cs typeface="IRNazanin" panose="02000506000000020002" pitchFamily="2" charset="-78"/>
              </a:rPr>
              <a:t>به‌صورت</a:t>
            </a:r>
            <a:r>
              <a:rPr lang="fa-IR" b="0" i="0" dirty="0">
                <a:effectLst/>
                <a:latin typeface="IRNazanin" panose="02000506000000020002" pitchFamily="2" charset="-78"/>
                <a:cs typeface="IRNazanin" panose="02000506000000020002" pitchFamily="2" charset="-78"/>
              </a:rPr>
              <a:t> همزمان استخراج شد. برای ادغام این دو نما، روش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 استفاده شد که ترکیب </a:t>
            </a:r>
            <a:r>
              <a:rPr lang="fa-IR" b="0" i="0" dirty="0" err="1">
                <a:effectLst/>
                <a:latin typeface="IRNazanin" panose="02000506000000020002" pitchFamily="2" charset="-78"/>
                <a:cs typeface="IRNazanin" panose="02000506000000020002" pitchFamily="2" charset="-78"/>
              </a:rPr>
              <a:t>بهینه‌ای</a:t>
            </a:r>
            <a:r>
              <a:rPr lang="fa-IR" b="0" i="0" dirty="0">
                <a:effectLst/>
                <a:latin typeface="IRNazanin" panose="02000506000000020002" pitchFamily="2" charset="-78"/>
                <a:cs typeface="IRNazanin" panose="02000506000000020002" pitchFamily="2" charset="-78"/>
              </a:rPr>
              <a:t> از الگوهای زمانی و الگوهای فرکانسی ارائه </a:t>
            </a:r>
            <a:r>
              <a:rPr lang="fa-IR" b="0" i="0" dirty="0" err="1">
                <a:effectLst/>
                <a:latin typeface="IRNazanin" panose="02000506000000020002" pitchFamily="2" charset="-78"/>
                <a:cs typeface="IRNazanin" panose="02000506000000020002" pitchFamily="2" charset="-78"/>
              </a:rPr>
              <a:t>می‌دهد</a:t>
            </a:r>
            <a:r>
              <a:rPr lang="fa-IR" b="0" i="0" dirty="0">
                <a:effectLst/>
                <a:latin typeface="IRNazanin" panose="02000506000000020002" pitchFamily="2" charset="-78"/>
                <a:cs typeface="IRNazanin" panose="02000506000000020002" pitchFamily="2" charset="-78"/>
              </a:rPr>
              <a:t> و نسبت به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و تغییرات محیطی </a:t>
            </a:r>
            <a:r>
              <a:rPr lang="fa-IR" b="0" i="0" dirty="0" err="1">
                <a:effectLst/>
                <a:latin typeface="IRNazanin" panose="02000506000000020002" pitchFamily="2" charset="-78"/>
                <a:cs typeface="IRNazanin" panose="02000506000000020002" pitchFamily="2" charset="-78"/>
              </a:rPr>
              <a:t>مقاوم‌تر</a:t>
            </a:r>
            <a:r>
              <a:rPr lang="fa-IR" b="0" i="0" dirty="0">
                <a:effectLst/>
                <a:latin typeface="IRNazanin" panose="02000506000000020002" pitchFamily="2" charset="-78"/>
                <a:cs typeface="IRNazanin" panose="02000506000000020002" pitchFamily="2" charset="-78"/>
              </a:rPr>
              <a:t> عمل </a:t>
            </a:r>
            <a:r>
              <a:rPr lang="fa-IR" b="0" i="0" dirty="0" err="1">
                <a:effectLst/>
                <a:latin typeface="IRNazanin" panose="02000506000000020002" pitchFamily="2" charset="-78"/>
                <a:cs typeface="IRNazanin" panose="02000506000000020002" pitchFamily="2" charset="-78"/>
              </a:rPr>
              <a:t>می‌کند</a:t>
            </a:r>
            <a:r>
              <a:rPr lang="fa-IR" b="0" i="0" dirty="0">
                <a:effectLst/>
                <a:latin typeface="IRNazanin" panose="02000506000000020002" pitchFamily="2" charset="-78"/>
                <a:cs typeface="IRNazanin" panose="02000506000000020002" pitchFamily="2" charset="-78"/>
              </a:rPr>
              <a:t>. سپس معماری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‑MFN مبتنی بر شبکه سبک </a:t>
            </a:r>
            <a:r>
              <a:rPr lang="fa-IR" b="0" i="0" dirty="0" err="1">
                <a:effectLst/>
                <a:latin typeface="IRNazanin" panose="02000506000000020002" pitchFamily="2" charset="-78"/>
                <a:cs typeface="IRNazanin" panose="02000506000000020002" pitchFamily="2" charset="-78"/>
              </a:rPr>
              <a:t>MobileFaceNet</a:t>
            </a:r>
            <a:r>
              <a:rPr lang="fa-IR" b="0" i="0" dirty="0">
                <a:effectLst/>
                <a:latin typeface="IRNazanin" panose="02000506000000020002" pitchFamily="2" charset="-78"/>
                <a:cs typeface="IRNazanin" panose="02000506000000020002" pitchFamily="2" charset="-78"/>
              </a:rPr>
              <a:t> برای آموزش مدل </a:t>
            </a:r>
            <a:r>
              <a:rPr lang="fa-IR" b="0" i="0" dirty="0" err="1">
                <a:effectLst/>
                <a:latin typeface="IRNazanin" panose="02000506000000020002" pitchFamily="2" charset="-78"/>
                <a:cs typeface="IRNazanin" panose="02000506000000020002" pitchFamily="2" charset="-78"/>
              </a:rPr>
              <a:t>به‌کار</a:t>
            </a:r>
            <a:r>
              <a:rPr lang="fa-IR" b="0" i="0" dirty="0">
                <a:effectLst/>
                <a:latin typeface="IRNazanin" panose="02000506000000020002" pitchFamily="2" charset="-78"/>
                <a:cs typeface="IRNazanin" panose="02000506000000020002" pitchFamily="2" charset="-78"/>
              </a:rPr>
              <a:t> گرفته شد تا ضمن حفظ دقت بالا، امکان استقرار در </a:t>
            </a:r>
            <a:r>
              <a:rPr lang="fa-IR" b="0" i="0" dirty="0" err="1">
                <a:effectLst/>
                <a:latin typeface="IRNazanin" panose="02000506000000020002" pitchFamily="2" charset="-78"/>
                <a:cs typeface="IRNazanin" panose="02000506000000020002" pitchFamily="2" charset="-78"/>
              </a:rPr>
              <a:t>سیستم‌های</a:t>
            </a:r>
            <a:r>
              <a:rPr lang="fa-IR" b="0" i="0" dirty="0">
                <a:effectLst/>
                <a:latin typeface="IRNazanin" panose="02000506000000020002" pitchFamily="2" charset="-78"/>
                <a:cs typeface="IRNazanin" panose="02000506000000020002" pitchFamily="2" charset="-78"/>
              </a:rPr>
              <a:t> واقعی (شکل ۵) فراهم شود. </a:t>
            </a:r>
            <a:r>
              <a:rPr lang="fa-IR" b="0" i="0" dirty="0" err="1">
                <a:effectLst/>
                <a:latin typeface="IRNazanin" panose="02000506000000020002" pitchFamily="2" charset="-78"/>
                <a:cs typeface="IRNazanin" panose="02000506000000020002" pitchFamily="2" charset="-78"/>
              </a:rPr>
              <a:t>مجموعه‌داده</a:t>
            </a:r>
            <a:r>
              <a:rPr lang="fa-IR" b="0" i="0" dirty="0">
                <a:effectLst/>
                <a:latin typeface="IRNazanin" panose="02000506000000020002" pitchFamily="2" charset="-78"/>
                <a:cs typeface="IRNazanin" panose="02000506000000020002" pitchFamily="2" charset="-78"/>
              </a:rPr>
              <a:t> شامل چند رخداد اصلی شامل گریه نوزاد، شکستن شیشه، شلیک، گفتار و حالت بدون رخداد بود و برای بهبود تعادل داده، از </a:t>
            </a:r>
            <a:r>
              <a:rPr lang="fa-IR" b="0" i="0" dirty="0" err="1">
                <a:effectLst/>
                <a:latin typeface="IRNazanin" panose="02000506000000020002" pitchFamily="2" charset="-78"/>
                <a:cs typeface="IRNazanin" panose="02000506000000020002" pitchFamily="2" charset="-78"/>
              </a:rPr>
              <a:t>تکنیک‌های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پیش‌پردازش</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تقسیم‌بندی</a:t>
            </a:r>
            <a:r>
              <a:rPr lang="fa-IR" b="0" i="0" dirty="0">
                <a:effectLst/>
                <a:latin typeface="IRNazanin" panose="02000506000000020002" pitchFamily="2" charset="-78"/>
                <a:cs typeface="IRNazanin" panose="02000506000000020002" pitchFamily="2" charset="-78"/>
              </a:rPr>
              <a:t> مناسب استفاده شد. مدل پس از آموزش، با استفاده از معیارهایی مانند دقت، </a:t>
            </a:r>
            <a:r>
              <a:rPr lang="fa-IR" b="0" i="0" dirty="0" err="1">
                <a:effectLst/>
                <a:latin typeface="IRNazanin" panose="02000506000000020002" pitchFamily="2" charset="-78"/>
                <a:cs typeface="IRNazanin" panose="02000506000000020002" pitchFamily="2" charset="-78"/>
              </a:rPr>
              <a:t>ماتریس</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درهم‌ریختگی</a:t>
            </a:r>
            <a:r>
              <a:rPr lang="fa-IR" b="0" i="0" dirty="0">
                <a:effectLst/>
                <a:latin typeface="IRNazanin" panose="02000506000000020002" pitchFamily="2" charset="-78"/>
                <a:cs typeface="IRNazanin" panose="02000506000000020002" pitchFamily="2" charset="-78"/>
              </a:rPr>
              <a:t> و رفتار روی کلاس بدون رخداد ارزیابی شد.</a:t>
            </a:r>
          </a:p>
          <a:p>
            <a:pPr algn="just"/>
            <a:r>
              <a:rPr lang="fa-IR" b="0" i="0" dirty="0">
                <a:effectLst/>
                <a:latin typeface="IRNazanin" panose="02000506000000020002" pitchFamily="2" charset="-78"/>
                <a:cs typeface="IRNazanin" panose="02000506000000020002" pitchFamily="2" charset="-78"/>
              </a:rPr>
              <a:t>نتایج </a:t>
            </a:r>
            <a:r>
              <a:rPr lang="fa-IR" b="0" i="0" dirty="0" err="1">
                <a:effectLst/>
                <a:latin typeface="IRNazanin" panose="02000506000000020002" pitchFamily="2" charset="-78"/>
                <a:cs typeface="IRNazanin" panose="02000506000000020002" pitchFamily="2" charset="-78"/>
              </a:rPr>
              <a:t>به‌دست‌آمده</a:t>
            </a:r>
            <a:r>
              <a:rPr lang="fa-IR" b="0" i="0" dirty="0">
                <a:effectLst/>
                <a:latin typeface="IRNazanin" panose="02000506000000020002" pitchFamily="2" charset="-78"/>
                <a:cs typeface="IRNazanin" panose="02000506000000020002" pitchFamily="2" charset="-78"/>
              </a:rPr>
              <a:t> نشان داد که ترکیب همزمان سیگنال خام و </a:t>
            </a:r>
            <a:r>
              <a:rPr lang="fa-IR" b="0" i="0" dirty="0" err="1">
                <a:effectLst/>
                <a:latin typeface="IRNazanin" panose="02000506000000020002" pitchFamily="2" charset="-78"/>
                <a:cs typeface="IRNazanin" panose="02000506000000020002" pitchFamily="2" charset="-78"/>
              </a:rPr>
              <a:t>اسپکتوگرام</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لاگ</a:t>
            </a:r>
            <a:r>
              <a:rPr lang="fa-IR" b="0" i="0" dirty="0">
                <a:effectLst/>
                <a:latin typeface="IRNazanin" panose="02000506000000020002" pitchFamily="2" charset="-78"/>
                <a:cs typeface="IRNazanin" panose="02000506000000020002" pitchFamily="2" charset="-78"/>
              </a:rPr>
              <a:t> مل در قالب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 باعث بهبود </a:t>
            </a:r>
            <a:r>
              <a:rPr lang="fa-IR" b="0" i="0" dirty="0" err="1">
                <a:effectLst/>
                <a:latin typeface="IRNazanin" panose="02000506000000020002" pitchFamily="2" charset="-78"/>
                <a:cs typeface="IRNazanin" panose="02000506000000020002" pitchFamily="2" charset="-78"/>
              </a:rPr>
              <a:t>قابل‌توجه</a:t>
            </a:r>
            <a:r>
              <a:rPr lang="fa-IR" b="0" i="0" dirty="0">
                <a:effectLst/>
                <a:latin typeface="IRNazanin" panose="02000506000000020002" pitchFamily="2" charset="-78"/>
                <a:cs typeface="IRNazanin" panose="02000506000000020002" pitchFamily="2" charset="-78"/>
              </a:rPr>
              <a:t> عملکرد نسبت به </a:t>
            </a:r>
            <a:r>
              <a:rPr lang="fa-IR" b="0" i="0" dirty="0" err="1">
                <a:effectLst/>
                <a:latin typeface="IRNazanin" panose="02000506000000020002" pitchFamily="2" charset="-78"/>
                <a:cs typeface="IRNazanin" panose="02000506000000020002" pitchFamily="2" charset="-78"/>
              </a:rPr>
              <a:t>روش‌های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تک‌نمایه</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و مدل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‑MFN توانسته است در تشخیص رخدادهای نادر دقت بالا و نرخ خطای پایین ارائه دهد. رفتار مدل در کلاس بدون رخداد نیز </a:t>
            </a:r>
            <a:r>
              <a:rPr lang="fa-IR" b="0" i="0" dirty="0" err="1">
                <a:effectLst/>
                <a:latin typeface="IRNazanin" panose="02000506000000020002" pitchFamily="2" charset="-78"/>
                <a:cs typeface="IRNazanin" panose="02000506000000020002" pitchFamily="2" charset="-78"/>
              </a:rPr>
              <a:t>نشان‌دهنده</a:t>
            </a:r>
            <a:r>
              <a:rPr lang="fa-IR" b="0" i="0" dirty="0">
                <a:effectLst/>
                <a:latin typeface="IRNazanin" panose="02000506000000020002" pitchFamily="2" charset="-78"/>
                <a:cs typeface="IRNazanin" panose="02000506000000020002" pitchFamily="2" charset="-78"/>
              </a:rPr>
              <a:t> پایداری مناسب در </a:t>
            </a:r>
            <a:r>
              <a:rPr lang="fa-IR" b="0" i="0" dirty="0" err="1">
                <a:effectLst/>
                <a:latin typeface="IRNazanin" panose="02000506000000020002" pitchFamily="2" charset="-78"/>
                <a:cs typeface="IRNazanin" panose="02000506000000020002" pitchFamily="2" charset="-78"/>
              </a:rPr>
              <a:t>محیط‌های</a:t>
            </a:r>
            <a:r>
              <a:rPr lang="fa-IR" b="0" i="0" dirty="0">
                <a:effectLst/>
                <a:latin typeface="IRNazanin" panose="02000506000000020002" pitchFamily="2" charset="-78"/>
                <a:cs typeface="IRNazanin" panose="02000506000000020002" pitchFamily="2" charset="-78"/>
              </a:rPr>
              <a:t> دارای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است. این نتایج نشان </a:t>
            </a:r>
            <a:r>
              <a:rPr lang="fa-IR" b="0" i="0" dirty="0" err="1">
                <a:effectLst/>
                <a:latin typeface="IRNazanin" panose="02000506000000020002" pitchFamily="2" charset="-78"/>
                <a:cs typeface="IRNazanin" panose="02000506000000020002" pitchFamily="2" charset="-78"/>
              </a:rPr>
              <a:t>می‌دهد</a:t>
            </a:r>
            <a:r>
              <a:rPr lang="fa-IR" b="0" i="0" dirty="0">
                <a:effectLst/>
                <a:latin typeface="IRNazanin" panose="02000506000000020002" pitchFamily="2" charset="-78"/>
                <a:cs typeface="IRNazanin" panose="02000506000000020002" pitchFamily="2" charset="-78"/>
              </a:rPr>
              <a:t> که استفاده از </a:t>
            </a:r>
            <a:r>
              <a:rPr lang="fa-IR" b="0" i="0" dirty="0" err="1">
                <a:effectLst/>
                <a:latin typeface="IRNazanin" panose="02000506000000020002" pitchFamily="2" charset="-78"/>
                <a:cs typeface="IRNazanin" panose="02000506000000020002" pitchFamily="2" charset="-78"/>
              </a:rPr>
              <a:t>نمایش‌های</a:t>
            </a:r>
            <a:r>
              <a:rPr lang="fa-IR" b="0" i="0" dirty="0">
                <a:effectLst/>
                <a:latin typeface="IRNazanin" panose="02000506000000020002" pitchFamily="2" charset="-78"/>
                <a:cs typeface="IRNazanin" panose="02000506000000020002" pitchFamily="2" charset="-78"/>
              </a:rPr>
              <a:t> تلفیقی و </a:t>
            </a:r>
            <a:r>
              <a:rPr lang="fa-IR" b="0" i="0" dirty="0" err="1">
                <a:effectLst/>
                <a:latin typeface="IRNazanin" panose="02000506000000020002" pitchFamily="2" charset="-78"/>
                <a:cs typeface="IRNazanin" panose="02000506000000020002" pitchFamily="2" charset="-78"/>
              </a:rPr>
              <a:t>معماری‌های</a:t>
            </a:r>
            <a:r>
              <a:rPr lang="fa-IR" b="0" i="0" dirty="0">
                <a:effectLst/>
                <a:latin typeface="IRNazanin" panose="02000506000000020002" pitchFamily="2" charset="-78"/>
                <a:cs typeface="IRNazanin" panose="02000506000000020002" pitchFamily="2" charset="-78"/>
              </a:rPr>
              <a:t> سبک </a:t>
            </a:r>
            <a:r>
              <a:rPr lang="fa-IR" b="0" i="0" dirty="0" err="1">
                <a:effectLst/>
                <a:latin typeface="IRNazanin" panose="02000506000000020002" pitchFamily="2" charset="-78"/>
                <a:cs typeface="IRNazanin" panose="02000506000000020002" pitchFamily="2" charset="-78"/>
              </a:rPr>
              <a:t>می‌تواند</a:t>
            </a:r>
            <a:r>
              <a:rPr lang="fa-IR" b="0" i="0" dirty="0">
                <a:effectLst/>
                <a:latin typeface="IRNazanin" panose="02000506000000020002" pitchFamily="2" charset="-78"/>
                <a:cs typeface="IRNazanin" panose="02000506000000020002" pitchFamily="2" charset="-78"/>
              </a:rPr>
              <a:t> مبنایی مناسب برای توسعه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هوشمند پایش صوتی در کاربردهای امنیتی باشد و </a:t>
            </a:r>
            <a:r>
              <a:rPr lang="fa-IR" b="0" i="0" dirty="0" err="1">
                <a:effectLst/>
                <a:latin typeface="IRNazanin" panose="02000506000000020002" pitchFamily="2" charset="-78"/>
                <a:cs typeface="IRNazanin" panose="02000506000000020002" pitchFamily="2" charset="-78"/>
              </a:rPr>
              <a:t>راهکار</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ارائه‌شده</a:t>
            </a:r>
            <a:r>
              <a:rPr lang="fa-IR" b="0" i="0" dirty="0">
                <a:effectLst/>
                <a:latin typeface="IRNazanin" panose="02000506000000020002" pitchFamily="2" charset="-78"/>
                <a:cs typeface="IRNazanin" panose="02000506000000020002" pitchFamily="2" charset="-78"/>
              </a:rPr>
              <a:t> قابلیت استقرار در </a:t>
            </a:r>
            <a:r>
              <a:rPr lang="fa-IR" b="0" i="0" dirty="0" err="1">
                <a:effectLst/>
                <a:latin typeface="IRNazanin" panose="02000506000000020002" pitchFamily="2" charset="-78"/>
                <a:cs typeface="IRNazanin" panose="02000506000000020002" pitchFamily="2" charset="-78"/>
              </a:rPr>
              <a:t>سیستم‌های</a:t>
            </a:r>
            <a:r>
              <a:rPr lang="fa-IR" b="0" i="0" dirty="0">
                <a:effectLst/>
                <a:latin typeface="IRNazanin" panose="02000506000000020002" pitchFamily="2" charset="-78"/>
                <a:cs typeface="IRNazanin" panose="02000506000000020002" pitchFamily="2" charset="-78"/>
              </a:rPr>
              <a:t> عملی را دارد.</a:t>
            </a:r>
          </a:p>
          <a:p>
            <a:pPr algn="just"/>
            <a:endParaRPr lang="en-US" dirty="0">
              <a:latin typeface="IRNazanin" panose="02000506000000020002" pitchFamily="2" charset="-78"/>
              <a:cs typeface="IRNazanin" panose="02000506000000020002" pitchFamily="2" charset="-78"/>
            </a:endParaRPr>
          </a:p>
        </p:txBody>
      </p:sp>
      <p:sp>
        <p:nvSpPr>
          <p:cNvPr id="39" name="Text Placeholder 38">
            <a:extLst>
              <a:ext uri="{FF2B5EF4-FFF2-40B4-BE49-F238E27FC236}">
                <a16:creationId xmlns:a16="http://schemas.microsoft.com/office/drawing/2014/main" id="{852E172C-94E6-4CA5-BA25-C019F07B20DF}"/>
              </a:ext>
            </a:extLst>
          </p:cNvPr>
          <p:cNvSpPr>
            <a:spLocks noGrp="1"/>
          </p:cNvSpPr>
          <p:nvPr>
            <p:ph type="body" sz="quarter" idx="11"/>
          </p:nvPr>
        </p:nvSpPr>
        <p:spPr/>
        <p:txBody>
          <a:bodyPr/>
          <a:lstStyle/>
          <a:p>
            <a:pPr marL="0" indent="0" algn="ctr" defTabSz="4388900" rtl="1" eaLnBrk="1" latinLnBrk="0" hangingPunct="1">
              <a:spcBef>
                <a:spcPct val="20000"/>
              </a:spcBef>
              <a:buFont typeface="Arial" pitchFamily="34" charset="0"/>
              <a:buNone/>
            </a:pPr>
            <a:r>
              <a:rPr lang="fa-IR" dirty="0" err="1">
                <a:latin typeface="IRNazanin" panose="02000506000000020002" pitchFamily="2" charset="-78"/>
                <a:cs typeface="IRNazanin" panose="02000506000000020002" pitchFamily="2" charset="-78"/>
              </a:rPr>
              <a:t>نتیجه‌گیری</a:t>
            </a:r>
            <a:r>
              <a:rPr lang="fa-IR" dirty="0">
                <a:latin typeface="IRNazanin" panose="02000506000000020002" pitchFamily="2" charset="-78"/>
                <a:cs typeface="IRNazanin" panose="02000506000000020002" pitchFamily="2" charset="-78"/>
              </a:rPr>
              <a:t> و </a:t>
            </a:r>
            <a:r>
              <a:rPr lang="fa-IR" dirty="0" err="1">
                <a:latin typeface="IRNazanin" panose="02000506000000020002" pitchFamily="2" charset="-78"/>
                <a:cs typeface="IRNazanin" panose="02000506000000020002" pitchFamily="2" charset="-78"/>
              </a:rPr>
              <a:t>روال‌های</a:t>
            </a:r>
            <a:r>
              <a:rPr lang="fa-IR" dirty="0">
                <a:latin typeface="IRNazanin" panose="02000506000000020002" pitchFamily="2" charset="-78"/>
                <a:cs typeface="IRNazanin" panose="02000506000000020002" pitchFamily="2" charset="-78"/>
              </a:rPr>
              <a:t> موجود برای کارهای آتی</a:t>
            </a:r>
            <a:endParaRPr lang="en-US" dirty="0">
              <a:latin typeface="IRNazanin" panose="02000506000000020002" pitchFamily="2" charset="-78"/>
              <a:cs typeface="IRNazanin" panose="02000506000000020002" pitchFamily="2" charset="-78"/>
            </a:endParaRPr>
          </a:p>
        </p:txBody>
      </p:sp>
      <p:sp>
        <p:nvSpPr>
          <p:cNvPr id="40" name="Text Placeholder 39">
            <a:extLst>
              <a:ext uri="{FF2B5EF4-FFF2-40B4-BE49-F238E27FC236}">
                <a16:creationId xmlns:a16="http://schemas.microsoft.com/office/drawing/2014/main" id="{DB732016-7512-4004-BA9E-20C0D0103979}"/>
              </a:ext>
            </a:extLst>
          </p:cNvPr>
          <p:cNvSpPr>
            <a:spLocks noGrp="1"/>
          </p:cNvSpPr>
          <p:nvPr>
            <p:ph type="body" sz="quarter" idx="19"/>
          </p:nvPr>
        </p:nvSpPr>
        <p:spPr>
          <a:xfrm>
            <a:off x="949760" y="23908720"/>
            <a:ext cx="13592864" cy="8848554"/>
          </a:xfrm>
        </p:spPr>
        <p:txBody>
          <a:bodyPr/>
          <a:lstStyle/>
          <a:p>
            <a:pPr algn="just" rtl="0"/>
            <a:r>
              <a:rPr lang="en-US" dirty="0">
                <a:latin typeface="IRNazanin" panose="02000506000000020002" pitchFamily="2" charset="-78"/>
                <a:cs typeface="IRNazanin" panose="02000506000000020002" pitchFamily="2" charset="-78"/>
              </a:rPr>
              <a:t>[1] </a:t>
            </a:r>
            <a:r>
              <a:rPr lang="en-IR" dirty="0">
                <a:effectLst/>
                <a:latin typeface="IRNazanin" panose="02000506000000020002" pitchFamily="2" charset="-78"/>
                <a:ea typeface="Times New Roman" panose="02020603050405020304" pitchFamily="18" charset="0"/>
                <a:cs typeface="IRNazanin" panose="02000506000000020002" pitchFamily="2" charset="-78"/>
              </a:rPr>
              <a:t>Y. Liu, J. Guan, Q. Zhu, and W. Wang, “Anomalous Sound Detection Using Spectral-Temporal Information Fusion,” in Proc. IEEE Int. Conf. on Acoustics, Speech and Signal Processing (ICASSP), 2022, pp. 816–820, doi: 10.1109/ICASSP43922.2022.9747868.</a:t>
            </a:r>
            <a:endParaRPr lang="en-IR" dirty="0">
              <a:effectLst/>
              <a:latin typeface="IRNazanin" panose="02000506000000020002" pitchFamily="2" charset="-78"/>
              <a:cs typeface="IRNazanin" panose="02000506000000020002" pitchFamily="2" charset="-78"/>
            </a:endParaRPr>
          </a:p>
          <a:p>
            <a:pPr algn="just" rtl="0"/>
            <a:r>
              <a:rPr lang="en-IR" dirty="0">
                <a:latin typeface="IRNazanin" panose="02000506000000020002" pitchFamily="2" charset="-78"/>
                <a:cs typeface="IRNazanin" panose="02000506000000020002" pitchFamily="2" charset="-78"/>
              </a:rPr>
              <a:t>[2] </a:t>
            </a:r>
            <a:r>
              <a:rPr lang="en-IR" dirty="0">
                <a:effectLst/>
                <a:latin typeface="IRNazanin" panose="02000506000000020002" pitchFamily="2" charset="-78"/>
                <a:ea typeface="Times New Roman" panose="02020603050405020304" pitchFamily="18" charset="0"/>
                <a:cs typeface="IRNazanin" panose="02000506000000020002" pitchFamily="2" charset="-78"/>
              </a:rPr>
              <a:t>W. Wang, C.-c. Kao, and C. Wang, “A simple model for detection of rare sound events,” arXiv preprint arXiv:1808.06676, 2018.</a:t>
            </a:r>
            <a:endParaRPr lang="en-IR" dirty="0">
              <a:effectLst/>
              <a:latin typeface="IRNazanin" panose="02000506000000020002" pitchFamily="2" charset="-78"/>
              <a:cs typeface="IRNazanin" panose="02000506000000020002" pitchFamily="2" charset="-78"/>
            </a:endParaRPr>
          </a:p>
          <a:p>
            <a:pPr algn="just" rtl="0"/>
            <a:r>
              <a:rPr lang="en-IR" dirty="0">
                <a:latin typeface="IRNazanin" panose="02000506000000020002" pitchFamily="2" charset="-78"/>
                <a:cs typeface="IRNazanin" panose="02000506000000020002" pitchFamily="2" charset="-78"/>
              </a:rPr>
              <a:t>[3] </a:t>
            </a:r>
            <a:r>
              <a:rPr lang="en-IR" dirty="0">
                <a:effectLst/>
                <a:latin typeface="IRNazanin" panose="02000506000000020002" pitchFamily="2" charset="-78"/>
                <a:ea typeface="Times New Roman" panose="02020603050405020304" pitchFamily="18" charset="0"/>
                <a:cs typeface="IRNazanin" panose="02000506000000020002" pitchFamily="2" charset="-78"/>
              </a:rPr>
              <a:t>S. Chen, Y. Liu, X. Gao, and Z. Han, “MobileFaceNets: Efficient CNNs for accurate real-time face verification on mobile devices,” arXiv:1804.07573, 2018.</a:t>
            </a:r>
          </a:p>
          <a:p>
            <a:pPr algn="just" rtl="0"/>
            <a:r>
              <a:rPr lang="en-IR" dirty="0">
                <a:latin typeface="IRNazanin" panose="02000506000000020002" pitchFamily="2" charset="-78"/>
                <a:cs typeface="IRNazanin" panose="02000506000000020002" pitchFamily="2" charset="-78"/>
              </a:rPr>
              <a:t>[4] </a:t>
            </a:r>
            <a:r>
              <a:rPr lang="en-IR" dirty="0">
                <a:effectLst/>
                <a:latin typeface="IRNazanin" panose="02000506000000020002" pitchFamily="2" charset="-78"/>
                <a:ea typeface="Times New Roman" panose="02020603050405020304" pitchFamily="18" charset="0"/>
                <a:cs typeface="IRNazanin" panose="02000506000000020002" pitchFamily="2" charset="-78"/>
              </a:rPr>
              <a:t>Q. Kong, Y. Cao, T. Iqbal, Y. Wang, W. Wang, and M. D. Plumbley, “PANNs: Large-scale pretrained audio neural networks for audio pattern recognition,” IEEE/ACM Transactions on Audio, Speech, and Language Processing, vol. 28, pp. 2880–2894, 2020.</a:t>
            </a:r>
            <a:endParaRPr lang="en-IR" dirty="0">
              <a:latin typeface="IRNazanin" panose="02000506000000020002" pitchFamily="2" charset="-78"/>
              <a:ea typeface="Times New Roman" panose="02020603050405020304" pitchFamily="18" charset="0"/>
              <a:cs typeface="IRNazanin" panose="02000506000000020002" pitchFamily="2" charset="-78"/>
            </a:endParaRPr>
          </a:p>
          <a:p>
            <a:pPr algn="just" rtl="0"/>
            <a:r>
              <a:rPr lang="en-IR" dirty="0">
                <a:latin typeface="IRNazanin" panose="02000506000000020002" pitchFamily="2" charset="-78"/>
                <a:cs typeface="IRNazanin" panose="02000506000000020002" pitchFamily="2" charset="-78"/>
              </a:rPr>
              <a:t>[4] </a:t>
            </a:r>
            <a:r>
              <a:rPr lang="en-IR" dirty="0">
                <a:effectLst/>
                <a:latin typeface="IRNazanin" panose="02000506000000020002" pitchFamily="2" charset="-78"/>
                <a:ea typeface="Times New Roman" panose="02020603050405020304" pitchFamily="18" charset="0"/>
                <a:cs typeface="IRNazanin" panose="02000506000000020002" pitchFamily="2" charset="-78"/>
              </a:rPr>
              <a:t>Y.  I.  Abubakar,  A.  Othmani,  P.  Siarry,  and  A.  Q.  M.  Sabri,  "A systematic  review of  rare  events detection  across modalities  using machine learning and deep learning," IEEE Access, 2024.</a:t>
            </a:r>
            <a:endParaRPr lang="en-IR" dirty="0">
              <a:latin typeface="IRNazanin" panose="02000506000000020002" pitchFamily="2" charset="-78"/>
              <a:ea typeface="Times New Roman" panose="02020603050405020304" pitchFamily="18" charset="0"/>
              <a:cs typeface="IRNazanin" panose="02000506000000020002" pitchFamily="2" charset="-78"/>
            </a:endParaRPr>
          </a:p>
          <a:p>
            <a:pPr algn="just" rtl="0"/>
            <a:r>
              <a:rPr lang="en-IR" dirty="0">
                <a:latin typeface="IRNazanin" panose="02000506000000020002" pitchFamily="2" charset="-78"/>
                <a:cs typeface="IRNazanin" panose="02000506000000020002" pitchFamily="2" charset="-78"/>
              </a:rPr>
              <a:t>[5] </a:t>
            </a:r>
            <a:r>
              <a:rPr lang="en-IR" dirty="0">
                <a:effectLst/>
                <a:latin typeface="IRNazanin" panose="02000506000000020002" pitchFamily="2" charset="-78"/>
                <a:ea typeface="Times New Roman" panose="02020603050405020304" pitchFamily="18" charset="0"/>
                <a:cs typeface="IRNazanin" panose="02000506000000020002" pitchFamily="2" charset="-78"/>
              </a:rPr>
              <a:t>D. T. Phan, “Comparison performance of spectrogram and scalogram as input of acoustic recognition task,” arXiv preprint arXiv:2403.03611, 2024.</a:t>
            </a:r>
            <a:endParaRPr lang="en-IR" dirty="0">
              <a:latin typeface="IRNazanin" panose="02000506000000020002" pitchFamily="2" charset="-78"/>
              <a:ea typeface="Times New Roman" panose="02020603050405020304" pitchFamily="18" charset="0"/>
              <a:cs typeface="IRNazanin" panose="02000506000000020002" pitchFamily="2" charset="-78"/>
            </a:endParaRPr>
          </a:p>
          <a:p>
            <a:pPr algn="just" rtl="0"/>
            <a:r>
              <a:rPr lang="en-IR" dirty="0">
                <a:latin typeface="IRNazanin" panose="02000506000000020002" pitchFamily="2" charset="-78"/>
                <a:cs typeface="IRNazanin" panose="02000506000000020002" pitchFamily="2" charset="-78"/>
              </a:rPr>
              <a:t>[6] </a:t>
            </a:r>
            <a:r>
              <a:rPr lang="en-IR" dirty="0">
                <a:effectLst/>
                <a:latin typeface="IRNazanin" panose="02000506000000020002" pitchFamily="2" charset="-78"/>
                <a:ea typeface="Times New Roman" panose="02020603050405020304" pitchFamily="18" charset="0"/>
                <a:cs typeface="IRNazanin" panose="02000506000000020002" pitchFamily="2" charset="-78"/>
              </a:rPr>
              <a:t>S. Amiriparian, S. Julka, and B. Schuller, “Deep convolutional recurrent neural network for rare acoustic event detection,” in Proc. Detection and Classification of Acoustic Scenes and Events (DCASE) Workshop, 2018.</a:t>
            </a:r>
            <a:endParaRPr lang="fa-IR" dirty="0">
              <a:effectLst/>
              <a:latin typeface="IRNazanin" panose="02000506000000020002" pitchFamily="2" charset="-78"/>
              <a:ea typeface="Times New Roman" panose="02020603050405020304" pitchFamily="18" charset="0"/>
              <a:cs typeface="IRNazanin" panose="02000506000000020002" pitchFamily="2" charset="-78"/>
            </a:endParaRPr>
          </a:p>
          <a:p>
            <a:pPr algn="just" rtl="0"/>
            <a:r>
              <a:rPr lang="en-US" dirty="0">
                <a:effectLst/>
                <a:latin typeface="IRNazanin" panose="02000506000000020002" pitchFamily="2" charset="-78"/>
                <a:ea typeface="Times New Roman" panose="02020603050405020304" pitchFamily="18" charset="0"/>
                <a:cs typeface="IRNazanin" panose="02000506000000020002" pitchFamily="2" charset="-78"/>
              </a:rPr>
              <a:t>[7] </a:t>
            </a:r>
            <a:r>
              <a:rPr lang="en-IR" dirty="0">
                <a:effectLst/>
                <a:latin typeface="IRNazanin" panose="02000506000000020002" pitchFamily="2" charset="-78"/>
                <a:ea typeface="Times New Roman" panose="02020603050405020304" pitchFamily="18" charset="0"/>
                <a:cs typeface="IRNazanin" panose="02000506000000020002" pitchFamily="2" charset="-78"/>
              </a:rPr>
              <a:t>K. Zhang, Y. Cai, Y. Ren, R. Ye, and L. He, “MTF-CRNN: Multiscale time-frequency convolutional recurrent neural network for sound event detection,” IEEE Access, vol. 8, pp. 147337–147348, 2020.</a:t>
            </a:r>
            <a:r>
              <a:rPr lang="en-IR" dirty="0">
                <a:effectLst/>
                <a:latin typeface="IRNazanin" panose="02000506000000020002" pitchFamily="2" charset="-78"/>
                <a:cs typeface="IRNazanin" panose="02000506000000020002" pitchFamily="2" charset="-78"/>
              </a:rPr>
              <a:t> </a:t>
            </a:r>
            <a:endParaRPr lang="fa-IR" dirty="0">
              <a:effectLst/>
              <a:latin typeface="IRNazanin" panose="02000506000000020002" pitchFamily="2" charset="-78"/>
              <a:ea typeface="Times New Roman" panose="02020603050405020304" pitchFamily="18" charset="0"/>
              <a:cs typeface="IRNazanin" panose="02000506000000020002" pitchFamily="2" charset="-78"/>
            </a:endParaRPr>
          </a:p>
          <a:p>
            <a:pPr algn="just" rtl="0"/>
            <a:endParaRPr lang="en-IR" dirty="0">
              <a:latin typeface="IRNazanin" panose="02000506000000020002" pitchFamily="2" charset="-78"/>
              <a:cs typeface="IRNazanin" panose="02000506000000020002" pitchFamily="2" charset="-78"/>
            </a:endParaRPr>
          </a:p>
          <a:p>
            <a:pPr algn="l" rtl="0"/>
            <a:endParaRPr lang="en-US" dirty="0">
              <a:latin typeface="IRNazanin" panose="02000506000000020002" pitchFamily="2" charset="-78"/>
              <a:cs typeface="IRNazanin" panose="02000506000000020002" pitchFamily="2" charset="-78"/>
            </a:endParaRPr>
          </a:p>
        </p:txBody>
      </p:sp>
      <p:sp>
        <p:nvSpPr>
          <p:cNvPr id="41" name="Text Placeholder 40">
            <a:extLst>
              <a:ext uri="{FF2B5EF4-FFF2-40B4-BE49-F238E27FC236}">
                <a16:creationId xmlns:a16="http://schemas.microsoft.com/office/drawing/2014/main" id="{79A11DDF-D08C-4318-816C-EBCD9756843E}"/>
              </a:ext>
            </a:extLst>
          </p:cNvPr>
          <p:cNvSpPr>
            <a:spLocks noGrp="1"/>
          </p:cNvSpPr>
          <p:nvPr>
            <p:ph type="body" sz="quarter" idx="20"/>
          </p:nvPr>
        </p:nvSpPr>
        <p:spPr>
          <a:xfrm>
            <a:off x="922338" y="23154675"/>
            <a:ext cx="13573125" cy="754045"/>
          </a:xfrm>
        </p:spPr>
        <p:txBody>
          <a:bodyPr/>
          <a:lstStyle/>
          <a:p>
            <a:pPr marL="0" indent="0" algn="ctr" defTabSz="4388900" rtl="1" eaLnBrk="1" latinLnBrk="0" hangingPunct="1">
              <a:spcBef>
                <a:spcPct val="20000"/>
              </a:spcBef>
              <a:buFont typeface="Arial" pitchFamily="34" charset="0"/>
              <a:buNone/>
            </a:pPr>
            <a:r>
              <a:rPr lang="fa-IR" dirty="0">
                <a:latin typeface="IRNazanin" panose="02000506000000020002" pitchFamily="2" charset="-78"/>
                <a:cs typeface="IRNazanin" panose="02000506000000020002" pitchFamily="2" charset="-78"/>
              </a:rPr>
              <a:t>منابع</a:t>
            </a:r>
            <a:endParaRPr lang="en-US" dirty="0">
              <a:latin typeface="IRNazanin" panose="02000506000000020002" pitchFamily="2" charset="-78"/>
              <a:cs typeface="IRNazanin" panose="02000506000000020002" pitchFamily="2" charset="-78"/>
            </a:endParaRPr>
          </a:p>
        </p:txBody>
      </p:sp>
      <p:sp>
        <p:nvSpPr>
          <p:cNvPr id="42" name="Text Placeholder 41">
            <a:extLst>
              <a:ext uri="{FF2B5EF4-FFF2-40B4-BE49-F238E27FC236}">
                <a16:creationId xmlns:a16="http://schemas.microsoft.com/office/drawing/2014/main" id="{9EA33C76-DF75-4D6C-95B4-0F0336D94393}"/>
              </a:ext>
            </a:extLst>
          </p:cNvPr>
          <p:cNvSpPr>
            <a:spLocks noGrp="1"/>
          </p:cNvSpPr>
          <p:nvPr>
            <p:ph type="body" sz="quarter" idx="23"/>
          </p:nvPr>
        </p:nvSpPr>
        <p:spPr>
          <a:xfrm>
            <a:off x="15162215" y="6295353"/>
            <a:ext cx="13571534" cy="8848554"/>
          </a:xfrm>
        </p:spPr>
        <p:txBody>
          <a:bodyPr/>
          <a:lstStyle/>
          <a:p>
            <a:pPr algn="just" rtl="1"/>
            <a:r>
              <a:rPr lang="fa-IR" b="0" i="0" dirty="0">
                <a:effectLst/>
                <a:latin typeface="IRNazanin" panose="02000506000000020002" pitchFamily="2" charset="-78"/>
                <a:cs typeface="IRNazanin" panose="02000506000000020002" pitchFamily="2" charset="-78"/>
              </a:rPr>
              <a:t>در این پروژه، مسیر کار </a:t>
            </a:r>
            <a:r>
              <a:rPr lang="fa-IR" b="0" i="0" dirty="0" err="1">
                <a:effectLst/>
                <a:latin typeface="IRNazanin" panose="02000506000000020002" pitchFamily="2" charset="-78"/>
                <a:cs typeface="IRNazanin" panose="02000506000000020002" pitchFamily="2" charset="-78"/>
              </a:rPr>
              <a:t>به‌صورت</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مرحله‌ای</a:t>
            </a:r>
            <a:r>
              <a:rPr lang="fa-IR" b="0" i="0" dirty="0">
                <a:effectLst/>
                <a:latin typeface="IRNazanin" panose="02000506000000020002" pitchFamily="2" charset="-78"/>
                <a:cs typeface="IRNazanin" panose="02000506000000020002" pitchFamily="2" charset="-78"/>
              </a:rPr>
              <a:t> از یک مدل پایه </a:t>
            </a:r>
            <a:r>
              <a:rPr lang="fa-IR" b="0" i="0" dirty="0" err="1">
                <a:effectLst/>
                <a:latin typeface="IRNazanin" panose="02000506000000020002" pitchFamily="2" charset="-78"/>
                <a:cs typeface="IRNazanin" panose="02000506000000020002" pitchFamily="2" charset="-78"/>
              </a:rPr>
              <a:t>تک‌کلاسه</a:t>
            </a:r>
            <a:r>
              <a:rPr lang="fa-IR" b="0" i="0" dirty="0">
                <a:effectLst/>
                <a:latin typeface="IRNazanin" panose="02000506000000020002" pitchFamily="2" charset="-78"/>
                <a:cs typeface="IRNazanin" panose="02000506000000020002" pitchFamily="2" charset="-78"/>
              </a:rPr>
              <a:t> تا طراحی و </a:t>
            </a:r>
            <a:r>
              <a:rPr lang="fa-IR" b="0" i="0" dirty="0" err="1">
                <a:effectLst/>
                <a:latin typeface="IRNazanin" panose="02000506000000020002" pitchFamily="2" charset="-78"/>
                <a:cs typeface="IRNazanin" panose="02000506000000020002" pitchFamily="2" charset="-78"/>
              </a:rPr>
              <a:t>پیاده‌سازی</a:t>
            </a:r>
            <a:r>
              <a:rPr lang="fa-IR" b="0" i="0" dirty="0">
                <a:effectLst/>
                <a:latin typeface="IRNazanin" panose="02000506000000020002" pitchFamily="2" charset="-78"/>
                <a:cs typeface="IRNazanin" panose="02000506000000020002" pitchFamily="2" charset="-78"/>
              </a:rPr>
              <a:t> یک سامانه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کامل پیش رفت. در گام اول، مسئله روی </a:t>
            </a:r>
            <a:r>
              <a:rPr lang="fa-IR" b="0" i="0" dirty="0" err="1">
                <a:effectLst/>
                <a:latin typeface="IRNazanin" panose="02000506000000020002" pitchFamily="2" charset="-78"/>
                <a:cs typeface="IRNazanin" panose="02000506000000020002" pitchFamily="2" charset="-78"/>
              </a:rPr>
              <a:t>دادگان</a:t>
            </a:r>
            <a:r>
              <a:rPr lang="fa-IR" b="0" i="0" dirty="0">
                <a:effectLst/>
                <a:latin typeface="IRNazanin" panose="02000506000000020002" pitchFamily="2" charset="-78"/>
                <a:cs typeface="IRNazanin" panose="02000506000000020002" pitchFamily="2" charset="-78"/>
              </a:rPr>
              <a:t> استاندارد DCASE 2017 و با </a:t>
            </a:r>
            <a:r>
              <a:rPr lang="fa-IR" b="0" i="0" dirty="0" err="1">
                <a:effectLst/>
                <a:latin typeface="IRNazanin" panose="02000506000000020002" pitchFamily="2" charset="-78"/>
                <a:cs typeface="IRNazanin" panose="02000506000000020002" pitchFamily="2" charset="-78"/>
              </a:rPr>
              <a:t>مدل‌های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کلاسیک‌تر</a:t>
            </a:r>
            <a:r>
              <a:rPr lang="fa-IR" b="0" i="0" dirty="0">
                <a:effectLst/>
                <a:latin typeface="IRNazanin" panose="02000506000000020002" pitchFamily="2" charset="-78"/>
                <a:cs typeface="IRNazanin" panose="02000506000000020002" pitchFamily="2" charset="-78"/>
              </a:rPr>
              <a:t> مبتنی بر </a:t>
            </a:r>
            <a:r>
              <a:rPr lang="fa-IR" b="0" i="0" dirty="0" err="1">
                <a:effectLst/>
                <a:latin typeface="IRNazanin" panose="02000506000000020002" pitchFamily="2" charset="-78"/>
                <a:cs typeface="IRNazanin" panose="02000506000000020002" pitchFamily="2" charset="-78"/>
              </a:rPr>
              <a:t>لاگ</a:t>
            </a:r>
            <a:r>
              <a:rPr lang="fa-IR" b="0" i="0" dirty="0">
                <a:effectLst/>
                <a:latin typeface="IRNazanin" panose="02000506000000020002" pitchFamily="2" charset="-78"/>
                <a:cs typeface="IRNazanin" panose="02000506000000020002" pitchFamily="2" charset="-78"/>
              </a:rPr>
              <a:t> مل </a:t>
            </a:r>
            <a:r>
              <a:rPr lang="fa-IR" b="0" i="0" dirty="0" err="1">
                <a:effectLst/>
                <a:latin typeface="IRNazanin" panose="02000506000000020002" pitchFamily="2" charset="-78"/>
                <a:cs typeface="IRNazanin" panose="02000506000000020002" pitchFamily="2" charset="-78"/>
              </a:rPr>
              <a:t>اسپکتوگرام</a:t>
            </a:r>
            <a:r>
              <a:rPr lang="fa-IR" b="0" i="0">
                <a:effectLst/>
                <a:latin typeface="IRNazanin" panose="02000506000000020002" pitchFamily="2" charset="-78"/>
                <a:cs typeface="IRNazanin" panose="02000506000000020002" pitchFamily="2" charset="-78"/>
              </a:rPr>
              <a:t> </a:t>
            </a:r>
            <a:r>
              <a:rPr lang="fa-IR" b="0" i="0" dirty="0">
                <a:effectLst/>
                <a:latin typeface="IRNazanin" panose="02000506000000020002" pitchFamily="2" charset="-78"/>
                <a:cs typeface="IRNazanin" panose="02000506000000020002" pitchFamily="2" charset="-78"/>
              </a:rPr>
              <a:t>و </a:t>
            </a:r>
            <a:r>
              <a:rPr lang="fa-IR" b="0" i="0" dirty="0" err="1">
                <a:effectLst/>
                <a:latin typeface="IRNazanin" panose="02000506000000020002" pitchFamily="2" charset="-78"/>
                <a:cs typeface="IRNazanin" panose="02000506000000020002" pitchFamily="2" charset="-78"/>
              </a:rPr>
              <a:t>شبکه‌های</a:t>
            </a:r>
            <a:r>
              <a:rPr lang="fa-IR" b="0" i="0" dirty="0">
                <a:effectLst/>
                <a:latin typeface="IRNazanin" panose="02000506000000020002" pitchFamily="2" charset="-78"/>
                <a:cs typeface="IRNazanin" panose="02000506000000020002" pitchFamily="2" charset="-78"/>
              </a:rPr>
              <a:t> ساده CNN اجرا شد تا یک خط مبنای </a:t>
            </a:r>
            <a:r>
              <a:rPr lang="fa-IR" b="0" i="0" dirty="0" err="1">
                <a:effectLst/>
                <a:latin typeface="IRNazanin" panose="02000506000000020002" pitchFamily="2" charset="-78"/>
                <a:cs typeface="IRNazanin" panose="02000506000000020002" pitchFamily="2" charset="-78"/>
              </a:rPr>
              <a:t>قابل‌اعتماد</a:t>
            </a:r>
            <a:r>
              <a:rPr lang="fa-IR" b="0" i="0" dirty="0">
                <a:effectLst/>
                <a:latin typeface="IRNazanin" panose="02000506000000020002" pitchFamily="2" charset="-78"/>
                <a:cs typeface="IRNazanin" panose="02000506000000020002" pitchFamily="2" charset="-78"/>
              </a:rPr>
              <a:t> برای تشخیص رخدادهای کمیاب </a:t>
            </a:r>
            <a:r>
              <a:rPr lang="fa-IR" b="0" i="0" dirty="0" err="1">
                <a:effectLst/>
                <a:latin typeface="IRNazanin" panose="02000506000000020002" pitchFamily="2" charset="-78"/>
                <a:cs typeface="IRNazanin" panose="02000506000000020002" pitchFamily="2" charset="-78"/>
              </a:rPr>
              <a:t>به‌دست</a:t>
            </a:r>
            <a:r>
              <a:rPr lang="fa-IR" b="0" i="0" dirty="0">
                <a:effectLst/>
                <a:latin typeface="IRNazanin" panose="02000506000000020002" pitchFamily="2" charset="-78"/>
                <a:cs typeface="IRNazanin" panose="02000506000000020002" pitchFamily="2" charset="-78"/>
              </a:rPr>
              <a:t> آید. سپس همین ساختارها به حالت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توسعه داده شدند تا توانایی تفکیک چند رویداد صوتی </a:t>
            </a:r>
            <a:r>
              <a:rPr lang="fa-IR" b="0" i="0" dirty="0" err="1">
                <a:effectLst/>
                <a:latin typeface="IRNazanin" panose="02000506000000020002" pitchFamily="2" charset="-78"/>
                <a:cs typeface="IRNazanin" panose="02000506000000020002" pitchFamily="2" charset="-78"/>
              </a:rPr>
              <a:t>به‌طور</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هم‌زمان</a:t>
            </a:r>
            <a:r>
              <a:rPr lang="fa-IR" b="0" i="0" dirty="0">
                <a:effectLst/>
                <a:latin typeface="IRNazanin" panose="02000506000000020002" pitchFamily="2" charset="-78"/>
                <a:cs typeface="IRNazanin" panose="02000506000000020002" pitchFamily="2" charset="-78"/>
              </a:rPr>
              <a:t> ارزیابی شود. این مرحله نشان داد که هرچند </a:t>
            </a:r>
            <a:r>
              <a:rPr lang="fa-IR" b="0" i="0" dirty="0" err="1">
                <a:effectLst/>
                <a:latin typeface="IRNazanin" panose="02000506000000020002" pitchFamily="2" charset="-78"/>
                <a:cs typeface="IRNazanin" panose="02000506000000020002" pitchFamily="2" charset="-78"/>
              </a:rPr>
              <a:t>مدل‌های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کانولوشنی</a:t>
            </a:r>
            <a:r>
              <a:rPr lang="fa-IR" b="0" i="0" dirty="0">
                <a:effectLst/>
                <a:latin typeface="IRNazanin" panose="02000506000000020002" pitchFamily="2" charset="-78"/>
                <a:cs typeface="IRNazanin" panose="02000506000000020002" pitchFamily="2" charset="-78"/>
              </a:rPr>
              <a:t> ساده قادر به یادگیری الگوهای اولیه هستند، اما برای </a:t>
            </a:r>
            <a:r>
              <a:rPr lang="fa-IR" b="0" i="0" dirty="0" err="1">
                <a:effectLst/>
                <a:latin typeface="IRNazanin" panose="02000506000000020002" pitchFamily="2" charset="-78"/>
                <a:cs typeface="IRNazanin" panose="02000506000000020002" pitchFamily="2" charset="-78"/>
              </a:rPr>
              <a:t>مسئله‌ای</a:t>
            </a:r>
            <a:r>
              <a:rPr lang="fa-IR" b="0" i="0" dirty="0">
                <a:effectLst/>
                <a:latin typeface="IRNazanin" panose="02000506000000020002" pitchFamily="2" charset="-78"/>
                <a:cs typeface="IRNazanin" panose="02000506000000020002" pitchFamily="2" charset="-78"/>
              </a:rPr>
              <a:t> با چند رویداد و شرایط متنوع محیطی، ظرفیت و </a:t>
            </a:r>
            <a:r>
              <a:rPr lang="fa-IR" b="0" i="0" dirty="0" err="1">
                <a:effectLst/>
                <a:latin typeface="IRNazanin" panose="02000506000000020002" pitchFamily="2" charset="-78"/>
                <a:cs typeface="IRNazanin" panose="02000506000000020002" pitchFamily="2" charset="-78"/>
              </a:rPr>
              <a:t>تعمیم‌پذیری</a:t>
            </a:r>
            <a:r>
              <a:rPr lang="fa-IR" b="0" i="0" dirty="0">
                <a:effectLst/>
                <a:latin typeface="IRNazanin" panose="02000506000000020002" pitchFamily="2" charset="-78"/>
                <a:cs typeface="IRNazanin" panose="02000506000000020002" pitchFamily="2" charset="-78"/>
              </a:rPr>
              <a:t> کافی را ندارند.</a:t>
            </a:r>
          </a:p>
          <a:p>
            <a:pPr algn="just" rtl="1"/>
            <a:r>
              <a:rPr lang="fa-IR" b="0" i="0" dirty="0">
                <a:effectLst/>
                <a:latin typeface="IRNazanin" panose="02000506000000020002" pitchFamily="2" charset="-78"/>
                <a:cs typeface="IRNazanin" panose="02000506000000020002" pitchFamily="2" charset="-78"/>
              </a:rPr>
              <a:t>در ادامه، پروژه به سمت </a:t>
            </a:r>
            <a:r>
              <a:rPr lang="fa-IR" b="0" i="0" dirty="0" err="1">
                <a:effectLst/>
                <a:latin typeface="IRNazanin" panose="02000506000000020002" pitchFamily="2" charset="-78"/>
                <a:cs typeface="IRNazanin" panose="02000506000000020002" pitchFamily="2" charset="-78"/>
              </a:rPr>
              <a:t>معماری‌های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عمیق‌تر</a:t>
            </a:r>
            <a:r>
              <a:rPr lang="fa-IR" b="0" i="0" dirty="0">
                <a:effectLst/>
                <a:latin typeface="IRNazanin" panose="02000506000000020002" pitchFamily="2" charset="-78"/>
                <a:cs typeface="IRNazanin" panose="02000506000000020002" pitchFamily="2" charset="-78"/>
              </a:rPr>
              <a:t> و ترکیبی حرکت کرد. یک مدل CNN‑RNN با ترکیب </a:t>
            </a:r>
            <a:r>
              <a:rPr lang="fa-IR" b="0" i="0" dirty="0" err="1">
                <a:effectLst/>
                <a:latin typeface="IRNazanin" panose="02000506000000020002" pitchFamily="2" charset="-78"/>
                <a:cs typeface="IRNazanin" panose="02000506000000020002" pitchFamily="2" charset="-78"/>
              </a:rPr>
              <a:t>لایه‌های</a:t>
            </a:r>
            <a:r>
              <a:rPr lang="fa-IR" b="0" i="0" dirty="0">
                <a:effectLst/>
                <a:latin typeface="IRNazanin" panose="02000506000000020002" pitchFamily="2" charset="-78"/>
                <a:cs typeface="IRNazanin" panose="02000506000000020002" pitchFamily="2" charset="-78"/>
              </a:rPr>
              <a:t> Conv1D، </a:t>
            </a:r>
            <a:r>
              <a:rPr lang="fa-IR" b="0" i="0" dirty="0" err="1">
                <a:effectLst/>
                <a:latin typeface="IRNazanin" panose="02000506000000020002" pitchFamily="2" charset="-78"/>
                <a:cs typeface="IRNazanin" panose="02000506000000020002" pitchFamily="2" charset="-78"/>
              </a:rPr>
              <a:t>BiLSTM</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BiGRU</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پیاده‌سازی</a:t>
            </a:r>
            <a:r>
              <a:rPr lang="fa-IR" b="0" i="0" dirty="0">
                <a:effectLst/>
                <a:latin typeface="IRNazanin" panose="02000506000000020002" pitchFamily="2" charset="-78"/>
                <a:cs typeface="IRNazanin" panose="02000506000000020002" pitchFamily="2" charset="-78"/>
              </a:rPr>
              <a:t> و آزمایش شد تا علاوه بر الگوهای زمان–فرکانس، </a:t>
            </a:r>
            <a:r>
              <a:rPr lang="fa-IR" b="0" i="0" dirty="0" err="1">
                <a:effectLst/>
                <a:latin typeface="IRNazanin" panose="02000506000000020002" pitchFamily="2" charset="-78"/>
                <a:cs typeface="IRNazanin" panose="02000506000000020002" pitchFamily="2" charset="-78"/>
              </a:rPr>
              <a:t>وابستگی‌های</a:t>
            </a:r>
            <a:r>
              <a:rPr lang="fa-IR" b="0" i="0" dirty="0">
                <a:effectLst/>
                <a:latin typeface="IRNazanin" panose="02000506000000020002" pitchFamily="2" charset="-78"/>
                <a:cs typeface="IRNazanin" panose="02000506000000020002" pitchFamily="2" charset="-78"/>
              </a:rPr>
              <a:t> زمانی توالی سیگنال نیز مدل شود. این تجربه نشان داد که ادغام تحلیل زمانی و فرکانسی برای تشخیص رخدادهای صوتی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ضروری است و صرفا تکیه بر یک نوع ویژگی یا یک معماری ساده، پاسخگوی پیچیدگی مسئله نیست. در این مرحله نقاط قوت و ضعف هر ترکیب معماری و نوع نمایش سیگنال مستند شد تا در انتخاب روش نهایی استفاده شود.</a:t>
            </a:r>
          </a:p>
          <a:p>
            <a:pPr algn="just" rtl="1"/>
            <a:r>
              <a:rPr lang="fa-IR" b="0" i="0" dirty="0">
                <a:effectLst/>
                <a:latin typeface="IRNazanin" panose="02000506000000020002" pitchFamily="2" charset="-78"/>
                <a:cs typeface="IRNazanin" panose="02000506000000020002" pitchFamily="2" charset="-78"/>
              </a:rPr>
              <a:t>یکی از </a:t>
            </a:r>
            <a:r>
              <a:rPr lang="fa-IR" b="0" i="0" dirty="0" err="1">
                <a:effectLst/>
                <a:latin typeface="IRNazanin" panose="02000506000000020002" pitchFamily="2" charset="-78"/>
                <a:cs typeface="IRNazanin" panose="02000506000000020002" pitchFamily="2" charset="-78"/>
              </a:rPr>
              <a:t>چالش‌های</a:t>
            </a:r>
            <a:r>
              <a:rPr lang="fa-IR" b="0" i="0" dirty="0">
                <a:effectLst/>
                <a:latin typeface="IRNazanin" panose="02000506000000020002" pitchFamily="2" charset="-78"/>
                <a:cs typeface="IRNazanin" panose="02000506000000020002" pitchFamily="2" charset="-78"/>
              </a:rPr>
              <a:t> اصلی در طول کار، محدود بودن و ناکافی بودن </a:t>
            </a:r>
            <a:r>
              <a:rPr lang="fa-IR" b="0" i="0" dirty="0" err="1">
                <a:effectLst/>
                <a:latin typeface="IRNazanin" panose="02000506000000020002" pitchFamily="2" charset="-78"/>
                <a:cs typeface="IRNazanin" panose="02000506000000020002" pitchFamily="2" charset="-78"/>
              </a:rPr>
              <a:t>مجموعه‌دادگان</a:t>
            </a:r>
            <a:r>
              <a:rPr lang="fa-IR" b="0" i="0" dirty="0">
                <a:effectLst/>
                <a:latin typeface="IRNazanin" panose="02000506000000020002" pitchFamily="2" charset="-78"/>
                <a:cs typeface="IRNazanin" panose="02000506000000020002" pitchFamily="2" charset="-78"/>
              </a:rPr>
              <a:t> واقعی برای آموزش یک مدل قوی و پایدار بود. برای رفع این محدودیت، یک </a:t>
            </a:r>
            <a:r>
              <a:rPr lang="fa-IR" b="0" i="0" dirty="0" err="1">
                <a:effectLst/>
                <a:latin typeface="IRNazanin" panose="02000506000000020002" pitchFamily="2" charset="-78"/>
                <a:cs typeface="IRNazanin" panose="02000506000000020002" pitchFamily="2" charset="-78"/>
              </a:rPr>
              <a:t>مجموعه‌دادگان</a:t>
            </a:r>
            <a:r>
              <a:rPr lang="fa-IR" b="0" i="0" dirty="0">
                <a:effectLst/>
                <a:latin typeface="IRNazanin" panose="02000506000000020002" pitchFamily="2" charset="-78"/>
                <a:cs typeface="IRNazanin" panose="02000506000000020002" pitchFamily="2" charset="-78"/>
              </a:rPr>
              <a:t> مصنوعی بزرگ و </a:t>
            </a:r>
            <a:r>
              <a:rPr lang="fa-IR" b="0" i="0" dirty="0" err="1">
                <a:effectLst/>
                <a:latin typeface="IRNazanin" panose="02000506000000020002" pitchFamily="2" charset="-78"/>
                <a:cs typeface="IRNazanin" panose="02000506000000020002" pitchFamily="2" charset="-78"/>
              </a:rPr>
              <a:t>کنترل‌شده</a:t>
            </a:r>
            <a:r>
              <a:rPr lang="fa-IR" b="0" i="0" dirty="0">
                <a:effectLst/>
                <a:latin typeface="IRNazanin" panose="02000506000000020002" pitchFamily="2" charset="-78"/>
                <a:cs typeface="IRNazanin" panose="02000506000000020002" pitchFamily="2" charset="-78"/>
              </a:rPr>
              <a:t> طراحی و تولید شد که شامل پنج کلاس هدف شلیک، شکستن شیشه، گریه نوزاد، گفتار و بدون رویداد با تنوع در نسبت سیگنال به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طول و موقعیت رخدادها بود. این رویکرد امکان آموزش مدل روی </a:t>
            </a:r>
            <a:r>
              <a:rPr lang="fa-IR" b="0" i="0" dirty="0" err="1">
                <a:effectLst/>
                <a:latin typeface="IRNazanin" panose="02000506000000020002" pitchFamily="2" charset="-78"/>
                <a:cs typeface="IRNazanin" panose="02000506000000020002" pitchFamily="2" charset="-78"/>
              </a:rPr>
              <a:t>سناریوهای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گسترده‌تر</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نزدیک‌تر</a:t>
            </a:r>
            <a:r>
              <a:rPr lang="fa-IR" b="0" i="0" dirty="0">
                <a:effectLst/>
                <a:latin typeface="IRNazanin" panose="02000506000000020002" pitchFamily="2" charset="-78"/>
                <a:cs typeface="IRNazanin" panose="02000506000000020002" pitchFamily="2" charset="-78"/>
              </a:rPr>
              <a:t> به شرایط واقعی را فراهم کرد و </a:t>
            </a:r>
            <a:r>
              <a:rPr lang="fa-IR" b="0" i="0" dirty="0" err="1">
                <a:effectLst/>
                <a:latin typeface="IRNazanin" panose="02000506000000020002" pitchFamily="2" charset="-78"/>
                <a:cs typeface="IRNazanin" panose="02000506000000020002" pitchFamily="2" charset="-78"/>
              </a:rPr>
              <a:t>پایه‌ای</a:t>
            </a:r>
            <a:r>
              <a:rPr lang="fa-IR" b="0" i="0" dirty="0">
                <a:effectLst/>
                <a:latin typeface="IRNazanin" panose="02000506000000020002" pitchFamily="2" charset="-78"/>
                <a:cs typeface="IRNazanin" panose="02000506000000020002" pitchFamily="2" charset="-78"/>
              </a:rPr>
              <a:t> برای ارزیابی </a:t>
            </a:r>
            <a:r>
              <a:rPr lang="fa-IR" b="0" i="0" dirty="0" err="1">
                <a:effectLst/>
                <a:latin typeface="IRNazanin" panose="02000506000000020002" pitchFamily="2" charset="-78"/>
                <a:cs typeface="IRNazanin" panose="02000506000000020002" pitchFamily="2" charset="-78"/>
              </a:rPr>
              <a:t>دقیق‌تر</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معماری‌ها</a:t>
            </a:r>
            <a:r>
              <a:rPr lang="fa-IR" b="0" i="0" dirty="0">
                <a:effectLst/>
                <a:latin typeface="IRNazanin" panose="02000506000000020002" pitchFamily="2" charset="-78"/>
                <a:cs typeface="IRNazanin" panose="02000506000000020002" pitchFamily="2" charset="-78"/>
              </a:rPr>
              <a:t> شد.</a:t>
            </a:r>
          </a:p>
          <a:p>
            <a:pPr algn="just" rtl="1"/>
            <a:r>
              <a:rPr lang="fa-IR" b="0" i="0" dirty="0">
                <a:effectLst/>
                <a:latin typeface="IRNazanin" panose="02000506000000020002" pitchFamily="2" charset="-78"/>
                <a:cs typeface="IRNazanin" panose="02000506000000020002" pitchFamily="2" charset="-78"/>
              </a:rPr>
              <a:t>در نهایت، با </a:t>
            </a:r>
            <a:r>
              <a:rPr lang="fa-IR" b="0" i="0" dirty="0" err="1">
                <a:effectLst/>
                <a:latin typeface="IRNazanin" panose="02000506000000020002" pitchFamily="2" charset="-78"/>
                <a:cs typeface="IRNazanin" panose="02000506000000020002" pitchFamily="2" charset="-78"/>
              </a:rPr>
              <a:t>جمع‌بندی</a:t>
            </a:r>
            <a:r>
              <a:rPr lang="fa-IR" b="0" i="0" dirty="0">
                <a:effectLst/>
                <a:latin typeface="IRNazanin" panose="02000506000000020002" pitchFamily="2" charset="-78"/>
                <a:cs typeface="IRNazanin" panose="02000506000000020002" pitchFamily="2" charset="-78"/>
              </a:rPr>
              <a:t> نتایج مراحل قبلی، روش اصلی پروژه انتخاب و </a:t>
            </a:r>
            <a:r>
              <a:rPr lang="fa-IR" b="0" i="0" dirty="0" err="1">
                <a:effectLst/>
                <a:latin typeface="IRNazanin" panose="02000506000000020002" pitchFamily="2" charset="-78"/>
                <a:cs typeface="IRNazanin" panose="02000506000000020002" pitchFamily="2" charset="-78"/>
              </a:rPr>
              <a:t>پیاده‌سازی</a:t>
            </a:r>
            <a:r>
              <a:rPr lang="fa-IR" b="0" i="0" dirty="0">
                <a:effectLst/>
                <a:latin typeface="IRNazanin" panose="02000506000000020002" pitchFamily="2" charset="-78"/>
                <a:cs typeface="IRNazanin" panose="02000506000000020002" pitchFamily="2" charset="-78"/>
              </a:rPr>
              <a:t> شد. هسته این روش، استفاده همزمان از موج خام و </a:t>
            </a:r>
            <a:r>
              <a:rPr lang="fa-IR" b="0" i="0" dirty="0" err="1">
                <a:effectLst/>
                <a:latin typeface="IRNazanin" panose="02000506000000020002" pitchFamily="2" charset="-78"/>
                <a:cs typeface="IRNazanin" panose="02000506000000020002" pitchFamily="2" charset="-78"/>
              </a:rPr>
              <a:t>اسپکتروگرام</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لاگ</a:t>
            </a:r>
            <a:r>
              <a:rPr lang="fa-IR" dirty="0">
                <a:latin typeface="IRNazanin" panose="02000506000000020002" pitchFamily="2" charset="-78"/>
                <a:cs typeface="IRNazanin" panose="02000506000000020002" pitchFamily="2" charset="-78"/>
              </a:rPr>
              <a:t> </a:t>
            </a:r>
            <a:r>
              <a:rPr lang="fa-IR" b="0" i="0" dirty="0">
                <a:effectLst/>
                <a:latin typeface="IRNazanin" panose="02000506000000020002" pitchFamily="2" charset="-78"/>
                <a:cs typeface="IRNazanin" panose="02000506000000020002" pitchFamily="2" charset="-78"/>
              </a:rPr>
              <a:t>مل و ادغام </a:t>
            </a:r>
            <a:r>
              <a:rPr lang="fa-IR" b="0" i="0" dirty="0" err="1">
                <a:effectLst/>
                <a:latin typeface="IRNazanin" panose="02000506000000020002" pitchFamily="2" charset="-78"/>
                <a:cs typeface="IRNazanin" panose="02000506000000020002" pitchFamily="2" charset="-78"/>
              </a:rPr>
              <a:t>آن‌ها</a:t>
            </a:r>
            <a:r>
              <a:rPr lang="fa-IR" b="0" i="0" dirty="0">
                <a:effectLst/>
                <a:latin typeface="IRNazanin" panose="02000506000000020002" pitchFamily="2" charset="-78"/>
                <a:cs typeface="IRNazanin" panose="02000506000000020002" pitchFamily="2" charset="-78"/>
              </a:rPr>
              <a:t> در قالب نمایش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 است تا الگوهای زمانی و فرکانسی </a:t>
            </a:r>
            <a:r>
              <a:rPr lang="fa-IR" b="0" i="0" dirty="0" err="1">
                <a:effectLst/>
                <a:latin typeface="IRNazanin" panose="02000506000000020002" pitchFamily="2" charset="-78"/>
                <a:cs typeface="IRNazanin" panose="02000506000000020002" pitchFamily="2" charset="-78"/>
              </a:rPr>
              <a:t>به‌صورت</a:t>
            </a:r>
            <a:r>
              <a:rPr lang="fa-IR" b="0" i="0" dirty="0">
                <a:effectLst/>
                <a:latin typeface="IRNazanin" panose="02000506000000020002" pitchFamily="2" charset="-78"/>
                <a:cs typeface="IRNazanin" panose="02000506000000020002" pitchFamily="2" charset="-78"/>
              </a:rPr>
              <a:t> مکمل در دسترس شبکه قرار گیرند. برای معماری، مدل سبک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‑MFN مبتنی بر </a:t>
            </a:r>
            <a:r>
              <a:rPr lang="fa-IR" b="0" i="0" dirty="0" err="1">
                <a:effectLst/>
                <a:latin typeface="IRNazanin" panose="02000506000000020002" pitchFamily="2" charset="-78"/>
                <a:cs typeface="IRNazanin" panose="02000506000000020002" pitchFamily="2" charset="-78"/>
              </a:rPr>
              <a:t>MobileFaceNet</a:t>
            </a:r>
            <a:r>
              <a:rPr lang="fa-IR" b="0" i="0" dirty="0">
                <a:effectLst/>
                <a:latin typeface="IRNazanin" panose="02000506000000020002" pitchFamily="2" charset="-78"/>
                <a:cs typeface="IRNazanin" panose="02000506000000020002" pitchFamily="2" charset="-78"/>
              </a:rPr>
              <a:t> طراحی شد تا ضمن حفظ دقت و قابلیت تشخیص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امکان استقرار در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واقعی با محدودیت منابع نیز فراهم شود. این معماری با تنظیم پارامترهای آموزش، </a:t>
            </a:r>
            <a:r>
              <a:rPr lang="fa-IR" b="0" i="0" dirty="0" err="1">
                <a:effectLst/>
                <a:latin typeface="IRNazanin" panose="02000506000000020002" pitchFamily="2" charset="-78"/>
                <a:cs typeface="IRNazanin" panose="02000506000000020002" pitchFamily="2" charset="-78"/>
              </a:rPr>
              <a:t>آماده‌سازی</a:t>
            </a:r>
            <a:r>
              <a:rPr lang="fa-IR" b="0" i="0" dirty="0">
                <a:effectLst/>
                <a:latin typeface="IRNazanin" panose="02000506000000020002" pitchFamily="2" charset="-78"/>
                <a:cs typeface="IRNazanin" panose="02000506000000020002" pitchFamily="2" charset="-78"/>
              </a:rPr>
              <a:t> داده و ارزیابی روی </a:t>
            </a:r>
            <a:r>
              <a:rPr lang="fa-IR" b="0" i="0" dirty="0" err="1">
                <a:effectLst/>
                <a:latin typeface="IRNazanin" panose="02000506000000020002" pitchFamily="2" charset="-78"/>
                <a:cs typeface="IRNazanin" panose="02000506000000020002" pitchFamily="2" charset="-78"/>
              </a:rPr>
              <a:t>سناریوهای</a:t>
            </a:r>
            <a:r>
              <a:rPr lang="fa-IR" b="0" i="0" dirty="0">
                <a:effectLst/>
                <a:latin typeface="IRNazanin" panose="02000506000000020002" pitchFamily="2" charset="-78"/>
                <a:cs typeface="IRNazanin" panose="02000506000000020002" pitchFamily="2" charset="-78"/>
              </a:rPr>
              <a:t> مختلف آموزش و تست شد و عملکرد آن در تشخیص پنج کلاس هدف </a:t>
            </a:r>
            <a:r>
              <a:rPr lang="fa-IR" b="0" i="0" dirty="0" err="1">
                <a:effectLst/>
                <a:latin typeface="IRNazanin" panose="02000506000000020002" pitchFamily="2" charset="-78"/>
                <a:cs typeface="IRNazanin" panose="02000506000000020002" pitchFamily="2" charset="-78"/>
              </a:rPr>
              <a:t>به‌عنوان</a:t>
            </a:r>
            <a:r>
              <a:rPr lang="fa-IR" b="0" i="0" dirty="0">
                <a:effectLst/>
                <a:latin typeface="IRNazanin" panose="02000506000000020002" pitchFamily="2" charset="-78"/>
                <a:cs typeface="IRNazanin" panose="02000506000000020002" pitchFamily="2" charset="-78"/>
              </a:rPr>
              <a:t> خروجی نهایی کار مورد تحلیل قرار گرفت.</a:t>
            </a:r>
          </a:p>
          <a:p>
            <a:pPr marL="0" indent="0" algn="just" defTabSz="4388900" rtl="1" eaLnBrk="1" latinLnBrk="0" hangingPunct="1">
              <a:spcBef>
                <a:spcPct val="20000"/>
              </a:spcBef>
              <a:buFont typeface="Arial" pitchFamily="34" charset="0"/>
              <a:buNone/>
            </a:pPr>
            <a:endParaRPr lang="en-US" dirty="0">
              <a:latin typeface="IRNazanin" panose="02000506000000020002" pitchFamily="2" charset="-78"/>
              <a:cs typeface="IRNazanin" panose="02000506000000020002" pitchFamily="2" charset="-78"/>
            </a:endParaRPr>
          </a:p>
        </p:txBody>
      </p:sp>
      <p:sp>
        <p:nvSpPr>
          <p:cNvPr id="43" name="Text Placeholder 42">
            <a:extLst>
              <a:ext uri="{FF2B5EF4-FFF2-40B4-BE49-F238E27FC236}">
                <a16:creationId xmlns:a16="http://schemas.microsoft.com/office/drawing/2014/main" id="{037F33E4-B9A2-4B37-B80E-CA86C4F439C9}"/>
              </a:ext>
            </a:extLst>
          </p:cNvPr>
          <p:cNvSpPr>
            <a:spLocks noGrp="1"/>
          </p:cNvSpPr>
          <p:nvPr>
            <p:ph type="body" sz="quarter" idx="24"/>
          </p:nvPr>
        </p:nvSpPr>
        <p:spPr/>
        <p:txBody>
          <a:bodyPr/>
          <a:lstStyle/>
          <a:p>
            <a:pPr marL="0" indent="0" algn="ctr" defTabSz="4388900" rtl="1" eaLnBrk="1" latinLnBrk="0" hangingPunct="1">
              <a:spcBef>
                <a:spcPct val="20000"/>
              </a:spcBef>
              <a:buFont typeface="Arial" pitchFamily="34" charset="0"/>
              <a:buNone/>
            </a:pPr>
            <a:r>
              <a:rPr lang="fa-IR" dirty="0">
                <a:latin typeface="IRNazanin" panose="02000506000000020002" pitchFamily="2" charset="-78"/>
                <a:cs typeface="IRNazanin" panose="02000506000000020002" pitchFamily="2" charset="-78"/>
              </a:rPr>
              <a:t>مرور کارهای انجام شده</a:t>
            </a:r>
            <a:endParaRPr lang="en-US" dirty="0">
              <a:latin typeface="IRNazanin" panose="02000506000000020002" pitchFamily="2" charset="-78"/>
              <a:cs typeface="IRNazanin" panose="02000506000000020002" pitchFamily="2" charset="-78"/>
            </a:endParaRPr>
          </a:p>
        </p:txBody>
      </p:sp>
      <p:sp>
        <p:nvSpPr>
          <p:cNvPr id="44" name="Text Placeholder 43">
            <a:extLst>
              <a:ext uri="{FF2B5EF4-FFF2-40B4-BE49-F238E27FC236}">
                <a16:creationId xmlns:a16="http://schemas.microsoft.com/office/drawing/2014/main" id="{71D8D477-93EF-4F9E-824D-2208E3C70137}"/>
              </a:ext>
            </a:extLst>
          </p:cNvPr>
          <p:cNvSpPr>
            <a:spLocks noGrp="1"/>
          </p:cNvSpPr>
          <p:nvPr>
            <p:ph type="body" sz="quarter" idx="25"/>
          </p:nvPr>
        </p:nvSpPr>
        <p:spPr/>
        <p:txBody>
          <a:bodyPr/>
          <a:lstStyle/>
          <a:p>
            <a:pPr marL="0" indent="0" algn="ctr" defTabSz="4388900" rtl="1" eaLnBrk="1" latinLnBrk="0" hangingPunct="1">
              <a:spcBef>
                <a:spcPct val="20000"/>
              </a:spcBef>
              <a:buFont typeface="Arial" pitchFamily="34" charset="0"/>
              <a:buNone/>
            </a:pPr>
            <a:r>
              <a:rPr lang="fa-IR" dirty="0">
                <a:latin typeface="IRNazanin" panose="02000506000000020002" pitchFamily="2" charset="-78"/>
                <a:cs typeface="IRNazanin" panose="02000506000000020002" pitchFamily="2" charset="-78"/>
              </a:rPr>
              <a:t>طرح مسئله</a:t>
            </a:r>
            <a:endParaRPr lang="en-US" dirty="0">
              <a:latin typeface="IRNazanin" panose="02000506000000020002" pitchFamily="2" charset="-78"/>
              <a:cs typeface="IRNazanin" panose="02000506000000020002" pitchFamily="2" charset="-78"/>
            </a:endParaRPr>
          </a:p>
        </p:txBody>
      </p:sp>
      <p:sp>
        <p:nvSpPr>
          <p:cNvPr id="45" name="Text Placeholder 44">
            <a:extLst>
              <a:ext uri="{FF2B5EF4-FFF2-40B4-BE49-F238E27FC236}">
                <a16:creationId xmlns:a16="http://schemas.microsoft.com/office/drawing/2014/main" id="{8873ABAC-9401-4847-91FA-0CFA6E82BA68}"/>
              </a:ext>
            </a:extLst>
          </p:cNvPr>
          <p:cNvSpPr>
            <a:spLocks noGrp="1"/>
          </p:cNvSpPr>
          <p:nvPr>
            <p:ph type="body" sz="quarter" idx="26"/>
          </p:nvPr>
        </p:nvSpPr>
        <p:spPr>
          <a:xfrm>
            <a:off x="29395741" y="6295353"/>
            <a:ext cx="13576029" cy="8771610"/>
          </a:xfrm>
        </p:spPr>
        <p:txBody>
          <a:bodyPr/>
          <a:lstStyle/>
          <a:p>
            <a:pPr algn="just" rtl="1"/>
            <a:r>
              <a:rPr lang="fa-IR" b="0" i="0" dirty="0">
                <a:effectLst/>
                <a:latin typeface="IRNazanin" panose="02000506000000020002" pitchFamily="2" charset="-78"/>
                <a:cs typeface="IRNazanin" panose="02000506000000020002" pitchFamily="2" charset="-78"/>
              </a:rPr>
              <a:t>با گسترش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هوشمند پایش محیطی و افزایش استفاده از </a:t>
            </a:r>
            <a:r>
              <a:rPr lang="fa-IR" b="0" i="0" dirty="0" err="1">
                <a:effectLst/>
                <a:latin typeface="IRNazanin" panose="02000506000000020002" pitchFamily="2" charset="-78"/>
                <a:cs typeface="IRNazanin" panose="02000506000000020002" pitchFamily="2" charset="-78"/>
              </a:rPr>
              <a:t>حسگرهای</a:t>
            </a:r>
            <a:r>
              <a:rPr lang="fa-IR" b="0" i="0" dirty="0">
                <a:effectLst/>
                <a:latin typeface="IRNazanin" panose="02000506000000020002" pitchFamily="2" charset="-78"/>
                <a:cs typeface="IRNazanin" panose="02000506000000020002" pitchFamily="2" charset="-78"/>
              </a:rPr>
              <a:t> صوتی در </a:t>
            </a:r>
            <a:r>
              <a:rPr lang="fa-IR" b="0" i="0" dirty="0" err="1">
                <a:effectLst/>
                <a:latin typeface="IRNazanin" panose="02000506000000020002" pitchFamily="2" charset="-78"/>
                <a:cs typeface="IRNazanin" panose="02000506000000020002" pitchFamily="2" charset="-78"/>
              </a:rPr>
              <a:t>محیط‌های</a:t>
            </a:r>
            <a:r>
              <a:rPr lang="fa-IR" b="0" i="0" dirty="0">
                <a:effectLst/>
                <a:latin typeface="IRNazanin" panose="02000506000000020002" pitchFamily="2" charset="-78"/>
                <a:cs typeface="IRNazanin" panose="02000506000000020002" pitchFamily="2" charset="-78"/>
              </a:rPr>
              <a:t> اداری و تجاری حساس، نیاز به تشخیص خودکار رخدادها و </a:t>
            </a:r>
            <a:r>
              <a:rPr lang="fa-IR" b="0" i="0" dirty="0" err="1">
                <a:effectLst/>
                <a:latin typeface="IRNazanin" panose="02000506000000020002" pitchFamily="2" charset="-78"/>
                <a:cs typeface="IRNazanin" panose="02000506000000020002" pitchFamily="2" charset="-78"/>
              </a:rPr>
              <a:t>ناهنجاری‌های</a:t>
            </a:r>
            <a:r>
              <a:rPr lang="fa-IR" b="0" i="0" dirty="0">
                <a:effectLst/>
                <a:latin typeface="IRNazanin" panose="02000506000000020002" pitchFamily="2" charset="-78"/>
                <a:cs typeface="IRNazanin" panose="02000506000000020002" pitchFamily="2" charset="-78"/>
              </a:rPr>
              <a:t> صوتی بیش از پیش احساس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در </a:t>
            </a:r>
            <a:r>
              <a:rPr lang="fa-IR" b="0" i="0" dirty="0" err="1">
                <a:effectLst/>
                <a:latin typeface="IRNazanin" panose="02000506000000020002" pitchFamily="2" charset="-78"/>
                <a:cs typeface="IRNazanin" panose="02000506000000020002" pitchFamily="2" charset="-78"/>
              </a:rPr>
              <a:t>محیط‌هایی</a:t>
            </a:r>
            <a:r>
              <a:rPr lang="fa-IR" b="0" i="0" dirty="0">
                <a:effectLst/>
                <a:latin typeface="IRNazanin" panose="02000506000000020002" pitchFamily="2" charset="-78"/>
                <a:cs typeface="IRNazanin" panose="02000506000000020002" pitchFamily="2" charset="-78"/>
              </a:rPr>
              <a:t> مانند </a:t>
            </a:r>
            <a:r>
              <a:rPr lang="fa-IR" b="0" i="0" dirty="0" err="1">
                <a:effectLst/>
                <a:latin typeface="IRNazanin" panose="02000506000000020002" pitchFamily="2" charset="-78"/>
                <a:cs typeface="IRNazanin" panose="02000506000000020002" pitchFamily="2" charset="-78"/>
              </a:rPr>
              <a:t>بانک‌ها</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طلافروشی‌ها</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صرافی‌ها</a:t>
            </a:r>
            <a:r>
              <a:rPr lang="fa-IR" b="0" i="0" dirty="0">
                <a:effectLst/>
                <a:latin typeface="IRNazanin" panose="02000506000000020002" pitchFamily="2" charset="-78"/>
                <a:cs typeface="IRNazanin" panose="02000506000000020002" pitchFamily="2" charset="-78"/>
              </a:rPr>
              <a:t>، امنیت یکی از </a:t>
            </a:r>
            <a:r>
              <a:rPr lang="fa-IR" b="0" i="0" dirty="0" err="1">
                <a:effectLst/>
                <a:latin typeface="IRNazanin" panose="02000506000000020002" pitchFamily="2" charset="-78"/>
                <a:cs typeface="IRNazanin" panose="02000506000000020002" pitchFamily="2" charset="-78"/>
              </a:rPr>
              <a:t>دغدغه‌های</a:t>
            </a:r>
            <a:r>
              <a:rPr lang="fa-IR" b="0" i="0" dirty="0">
                <a:effectLst/>
                <a:latin typeface="IRNazanin" panose="02000506000000020002" pitchFamily="2" charset="-78"/>
                <a:cs typeface="IRNazanin" panose="02000506000000020002" pitchFamily="2" charset="-78"/>
              </a:rPr>
              <a:t> اصلی است و برای افزایش سطح امنیت، از </a:t>
            </a:r>
            <a:r>
              <a:rPr lang="fa-IR" b="0" i="0" dirty="0" err="1">
                <a:effectLst/>
                <a:latin typeface="IRNazanin" panose="02000506000000020002" pitchFamily="2" charset="-78"/>
                <a:cs typeface="IRNazanin" panose="02000506000000020002" pitchFamily="2" charset="-78"/>
              </a:rPr>
              <a:t>دوربین‌های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مداربسته</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کنترل دسترسی و تجهیزات حفاظتی مختلف استفاده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با این حال، تجربه نشان داده است که حتی در چنین </a:t>
            </a:r>
            <a:r>
              <a:rPr lang="fa-IR" b="0" i="0" dirty="0" err="1">
                <a:effectLst/>
                <a:latin typeface="IRNazanin" panose="02000506000000020002" pitchFamily="2" charset="-78"/>
                <a:cs typeface="IRNazanin" panose="02000506000000020002" pitchFamily="2" charset="-78"/>
              </a:rPr>
              <a:t>محیط‌های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مجهزی</a:t>
            </a:r>
            <a:r>
              <a:rPr lang="fa-IR" b="0" i="0" dirty="0">
                <a:effectLst/>
                <a:latin typeface="IRNazanin" panose="02000506000000020002" pitchFamily="2" charset="-78"/>
                <a:cs typeface="IRNazanin" panose="02000506000000020002" pitchFamily="2" charset="-78"/>
              </a:rPr>
              <a:t> نیز وقوع </a:t>
            </a:r>
            <a:r>
              <a:rPr lang="fa-IR" b="0" i="0" dirty="0" err="1">
                <a:effectLst/>
                <a:latin typeface="IRNazanin" panose="02000506000000020002" pitchFamily="2" charset="-78"/>
                <a:cs typeface="IRNazanin" panose="02000506000000020002" pitchFamily="2" charset="-78"/>
              </a:rPr>
              <a:t>سرقت‌های</a:t>
            </a:r>
            <a:r>
              <a:rPr lang="fa-IR" b="0" i="0" dirty="0">
                <a:effectLst/>
                <a:latin typeface="IRNazanin" panose="02000506000000020002" pitchFamily="2" charset="-78"/>
                <a:cs typeface="IRNazanin" panose="02000506000000020002" pitchFamily="2" charset="-78"/>
              </a:rPr>
              <a:t> مسلحانه، </a:t>
            </a:r>
            <a:r>
              <a:rPr lang="fa-IR" b="0" i="0" dirty="0" err="1">
                <a:effectLst/>
                <a:latin typeface="IRNazanin" panose="02000506000000020002" pitchFamily="2" charset="-78"/>
                <a:cs typeface="IRNazanin" panose="02000506000000020002" pitchFamily="2" charset="-78"/>
              </a:rPr>
              <a:t>درگیری‌های</a:t>
            </a:r>
            <a:r>
              <a:rPr lang="fa-IR" b="0" i="0" dirty="0">
                <a:effectLst/>
                <a:latin typeface="IRNazanin" panose="02000506000000020002" pitchFamily="2" charset="-78"/>
                <a:cs typeface="IRNazanin" panose="02000506000000020002" pitchFamily="2" charset="-78"/>
              </a:rPr>
              <a:t> فیزیکی و تخریب اموال همچنان محتمل است و </a:t>
            </a:r>
            <a:r>
              <a:rPr lang="fa-IR" b="0" i="0" dirty="0" err="1">
                <a:effectLst/>
                <a:latin typeface="IRNazanin" panose="02000506000000020002" pitchFamily="2" charset="-78"/>
                <a:cs typeface="IRNazanin" panose="02000506000000020002" pitchFamily="2" charset="-78"/>
              </a:rPr>
              <a:t>نمونه‌های</a:t>
            </a:r>
            <a:r>
              <a:rPr lang="fa-IR" b="0" i="0" dirty="0">
                <a:effectLst/>
                <a:latin typeface="IRNazanin" panose="02000506000000020002" pitchFamily="2" charset="-78"/>
                <a:cs typeface="IRNazanin" panose="02000506000000020002" pitchFamily="2" charset="-78"/>
              </a:rPr>
              <a:t> متعددی از این حوادث در </a:t>
            </a:r>
            <a:r>
              <a:rPr lang="fa-IR" b="0" i="0" dirty="0" err="1">
                <a:effectLst/>
                <a:latin typeface="IRNazanin" panose="02000506000000020002" pitchFamily="2" charset="-78"/>
                <a:cs typeface="IRNazanin" panose="02000506000000020002" pitchFamily="2" charset="-78"/>
              </a:rPr>
              <a:t>سال‌های</a:t>
            </a:r>
            <a:r>
              <a:rPr lang="fa-IR" b="0" i="0" dirty="0">
                <a:effectLst/>
                <a:latin typeface="IRNazanin" panose="02000506000000020002" pitchFamily="2" charset="-78"/>
                <a:cs typeface="IRNazanin" panose="02000506000000020002" pitchFamily="2" charset="-78"/>
              </a:rPr>
              <a:t> اخیر در اخبار و </a:t>
            </a:r>
            <a:r>
              <a:rPr lang="fa-IR" b="0" i="0" dirty="0" err="1">
                <a:effectLst/>
                <a:latin typeface="IRNazanin" panose="02000506000000020002" pitchFamily="2" charset="-78"/>
                <a:cs typeface="IRNazanin" panose="02000506000000020002" pitchFamily="2" charset="-78"/>
              </a:rPr>
              <a:t>گزارش‌ها</a:t>
            </a:r>
            <a:r>
              <a:rPr lang="fa-IR" b="0" i="0" dirty="0">
                <a:effectLst/>
                <a:latin typeface="IRNazanin" panose="02000506000000020002" pitchFamily="2" charset="-78"/>
                <a:cs typeface="IRNazanin" panose="02000506000000020002" pitchFamily="2" charset="-78"/>
              </a:rPr>
              <a:t> مشاهده شده است. این موارد نشان </a:t>
            </a:r>
            <a:r>
              <a:rPr lang="fa-IR" b="0" i="0" dirty="0" err="1">
                <a:effectLst/>
                <a:latin typeface="IRNazanin" panose="02000506000000020002" pitchFamily="2" charset="-78"/>
                <a:cs typeface="IRNazanin" panose="02000506000000020002" pitchFamily="2" charset="-78"/>
              </a:rPr>
              <a:t>می‌دهد</a:t>
            </a:r>
            <a:r>
              <a:rPr lang="fa-IR" b="0" i="0" dirty="0">
                <a:effectLst/>
                <a:latin typeface="IRNazanin" panose="02000506000000020002" pitchFamily="2" charset="-78"/>
                <a:cs typeface="IRNazanin" panose="02000506000000020002" pitchFamily="2" charset="-78"/>
              </a:rPr>
              <a:t> که اتکای صرف به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نظارت تصویری و نیروی انسانی برای پایش دائمی همه زوایا کافی نیست و </a:t>
            </a:r>
            <a:r>
              <a:rPr lang="fa-IR" b="0" i="0" dirty="0" err="1">
                <a:effectLst/>
                <a:latin typeface="IRNazanin" panose="02000506000000020002" pitchFamily="2" charset="-78"/>
                <a:cs typeface="IRNazanin" panose="02000506000000020002" pitchFamily="2" charset="-78"/>
              </a:rPr>
              <a:t>شکاف‌هایی</a:t>
            </a:r>
            <a:r>
              <a:rPr lang="fa-IR" b="0" i="0" dirty="0">
                <a:effectLst/>
                <a:latin typeface="IRNazanin" panose="02000506000000020002" pitchFamily="2" charset="-78"/>
                <a:cs typeface="IRNazanin" panose="02000506000000020002" pitchFamily="2" charset="-78"/>
              </a:rPr>
              <a:t> در پوشش امنیتی وجود دارد.</a:t>
            </a:r>
          </a:p>
          <a:p>
            <a:pPr algn="just" rtl="1"/>
            <a:r>
              <a:rPr lang="fa-IR" b="0" i="0" dirty="0">
                <a:effectLst/>
                <a:latin typeface="IRNazanin" panose="02000506000000020002" pitchFamily="2" charset="-78"/>
                <a:cs typeface="IRNazanin" panose="02000506000000020002" pitchFamily="2" charset="-78"/>
              </a:rPr>
              <a:t>مسئله اساسی آن است که بخش عمده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امنیتی موجود مبتنی بر تصویر هستند و واکنش </a:t>
            </a:r>
            <a:r>
              <a:rPr lang="fa-IR" b="0" i="0" dirty="0" err="1">
                <a:effectLst/>
                <a:latin typeface="IRNazanin" panose="02000506000000020002" pitchFamily="2" charset="-78"/>
                <a:cs typeface="IRNazanin" panose="02000506000000020002" pitchFamily="2" charset="-78"/>
              </a:rPr>
              <a:t>آن‌ها</a:t>
            </a:r>
            <a:r>
              <a:rPr lang="fa-IR" b="0" i="0" dirty="0">
                <a:effectLst/>
                <a:latin typeface="IRNazanin" panose="02000506000000020002" pitchFamily="2" charset="-78"/>
                <a:cs typeface="IRNazanin" panose="02000506000000020002" pitchFamily="2" charset="-78"/>
              </a:rPr>
              <a:t> به رخدادها عمدتا وابسته به مشاهده و تحلیل انسانی یا </a:t>
            </a:r>
            <a:r>
              <a:rPr lang="fa-IR" b="0" i="0" dirty="0" err="1">
                <a:effectLst/>
                <a:latin typeface="IRNazanin" panose="02000506000000020002" pitchFamily="2" charset="-78"/>
                <a:cs typeface="IRNazanin" panose="02000506000000020002" pitchFamily="2" charset="-78"/>
              </a:rPr>
              <a:t>پردازش‌های</a:t>
            </a:r>
            <a:r>
              <a:rPr lang="fa-IR" b="0" i="0" dirty="0">
                <a:effectLst/>
                <a:latin typeface="IRNazanin" panose="02000506000000020002" pitchFamily="2" charset="-78"/>
                <a:cs typeface="IRNazanin" panose="02000506000000020002" pitchFamily="2" charset="-78"/>
              </a:rPr>
              <a:t> سنگین تصویری است. در حالی که در بسیاری از رخدادهای امنیتی، صدا نخستین نشانه وقوع حادثه محسوب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صداهایی مانند شلیک گلوله، شکستن شیشه، گریه نوزاد و ... </a:t>
            </a:r>
            <a:r>
              <a:rPr lang="fa-IR" b="0" i="0" dirty="0" err="1">
                <a:effectLst/>
                <a:latin typeface="IRNazanin" panose="02000506000000020002" pitchFamily="2" charset="-78"/>
                <a:cs typeface="IRNazanin" panose="02000506000000020002" pitchFamily="2" charset="-78"/>
              </a:rPr>
              <a:t>می‌توانند</a:t>
            </a:r>
            <a:r>
              <a:rPr lang="fa-IR" b="0" i="0" dirty="0">
                <a:effectLst/>
                <a:latin typeface="IRNazanin" panose="02000506000000020002" pitchFamily="2" charset="-78"/>
                <a:cs typeface="IRNazanin" panose="02000506000000020002" pitchFamily="2" charset="-78"/>
              </a:rPr>
              <a:t> قبل از </a:t>
            </a:r>
            <a:r>
              <a:rPr lang="fa-IR" b="0" i="0" dirty="0" err="1">
                <a:effectLst/>
                <a:latin typeface="IRNazanin" panose="02000506000000020002" pitchFamily="2" charset="-78"/>
                <a:cs typeface="IRNazanin" panose="02000506000000020002" pitchFamily="2" charset="-78"/>
              </a:rPr>
              <a:t>آن‌که</a:t>
            </a:r>
            <a:r>
              <a:rPr lang="fa-IR" b="0" i="0" dirty="0">
                <a:effectLst/>
                <a:latin typeface="IRNazanin" panose="02000506000000020002" pitchFamily="2" charset="-78"/>
                <a:cs typeface="IRNazanin" panose="02000506000000020002" pitchFamily="2" charset="-78"/>
              </a:rPr>
              <a:t> در تصویر </a:t>
            </a:r>
            <a:r>
              <a:rPr lang="fa-IR" b="0" i="0" dirty="0" err="1">
                <a:effectLst/>
                <a:latin typeface="IRNazanin" panose="02000506000000020002" pitchFamily="2" charset="-78"/>
                <a:cs typeface="IRNazanin" panose="02000506000000020002" pitchFamily="2" charset="-78"/>
              </a:rPr>
              <a:t>به‌خوبی</a:t>
            </a:r>
            <a:r>
              <a:rPr lang="fa-IR" b="0" i="0" dirty="0">
                <a:effectLst/>
                <a:latin typeface="IRNazanin" panose="02000506000000020002" pitchFamily="2" charset="-78"/>
                <a:cs typeface="IRNazanin" panose="02000506000000020002" pitchFamily="2" charset="-78"/>
              </a:rPr>
              <a:t> دیده شوند، در داده صوتی قابل تشخیص باشند. هرگونه تاخیر در تشخیص این </a:t>
            </a:r>
            <a:r>
              <a:rPr lang="fa-IR" b="0" i="0" dirty="0" err="1">
                <a:effectLst/>
                <a:latin typeface="IRNazanin" panose="02000506000000020002" pitchFamily="2" charset="-78"/>
                <a:cs typeface="IRNazanin" panose="02000506000000020002" pitchFamily="2" charset="-78"/>
              </a:rPr>
              <a:t>نشانه‌های</a:t>
            </a:r>
            <a:r>
              <a:rPr lang="fa-IR" b="0" i="0" dirty="0">
                <a:effectLst/>
                <a:latin typeface="IRNazanin" panose="02000506000000020002" pitchFamily="2" charset="-78"/>
                <a:cs typeface="IRNazanin" panose="02000506000000020002" pitchFamily="2" charset="-78"/>
              </a:rPr>
              <a:t> اولیه </a:t>
            </a:r>
            <a:r>
              <a:rPr lang="fa-IR" b="0" i="0" dirty="0" err="1">
                <a:effectLst/>
                <a:latin typeface="IRNazanin" panose="02000506000000020002" pitchFamily="2" charset="-78"/>
                <a:cs typeface="IRNazanin" panose="02000506000000020002" pitchFamily="2" charset="-78"/>
              </a:rPr>
              <a:t>می‌تواند</a:t>
            </a:r>
            <a:r>
              <a:rPr lang="fa-IR" b="0" i="0" dirty="0">
                <a:effectLst/>
                <a:latin typeface="IRNazanin" panose="02000506000000020002" pitchFamily="2" charset="-78"/>
                <a:cs typeface="IRNazanin" panose="02000506000000020002" pitchFamily="2" charset="-78"/>
              </a:rPr>
              <a:t> منجر به افزایش خسارات، به خطر افتادن جان افراد و از دست رفتن فرصت واکنش </a:t>
            </a:r>
            <a:r>
              <a:rPr lang="fa-IR" b="0" i="0" dirty="0" err="1">
                <a:effectLst/>
                <a:latin typeface="IRNazanin" panose="02000506000000020002" pitchFamily="2" charset="-78"/>
                <a:cs typeface="IRNazanin" panose="02000506000000020002" pitchFamily="2" charset="-78"/>
              </a:rPr>
              <a:t>به‌موقع</a:t>
            </a:r>
            <a:r>
              <a:rPr lang="fa-IR" b="0" i="0" dirty="0">
                <a:effectLst/>
                <a:latin typeface="IRNazanin" panose="02000506000000020002" pitchFamily="2" charset="-78"/>
                <a:cs typeface="IRNazanin" panose="02000506000000020002" pitchFamily="2" charset="-78"/>
              </a:rPr>
              <a:t> شود. </a:t>
            </a:r>
            <a:r>
              <a:rPr lang="fa-IR" b="0" i="0" dirty="0" err="1">
                <a:effectLst/>
                <a:latin typeface="IRNazanin" panose="02000506000000020002" pitchFamily="2" charset="-78"/>
                <a:cs typeface="IRNazanin" panose="02000506000000020002" pitchFamily="2" charset="-78"/>
              </a:rPr>
              <a:t>به‌خصوص</a:t>
            </a:r>
            <a:r>
              <a:rPr lang="fa-IR" b="0" i="0" dirty="0">
                <a:effectLst/>
                <a:latin typeface="IRNazanin" panose="02000506000000020002" pitchFamily="2" charset="-78"/>
                <a:cs typeface="IRNazanin" panose="02000506000000020002" pitchFamily="2" charset="-78"/>
              </a:rPr>
              <a:t> در </a:t>
            </a:r>
            <a:r>
              <a:rPr lang="fa-IR" b="0" i="0" dirty="0" err="1">
                <a:effectLst/>
                <a:latin typeface="IRNazanin" panose="02000506000000020002" pitchFamily="2" charset="-78"/>
                <a:cs typeface="IRNazanin" panose="02000506000000020002" pitchFamily="2" charset="-78"/>
              </a:rPr>
              <a:t>فضاهایی</a:t>
            </a:r>
            <a:r>
              <a:rPr lang="fa-IR" b="0" i="0" dirty="0">
                <a:effectLst/>
                <a:latin typeface="IRNazanin" panose="02000506000000020002" pitchFamily="2" charset="-78"/>
                <a:cs typeface="IRNazanin" panose="02000506000000020002" pitchFamily="2" charset="-78"/>
              </a:rPr>
              <a:t> با تراکم جمعیتی بالا یا </a:t>
            </a:r>
            <a:r>
              <a:rPr lang="fa-IR" b="0" i="0" dirty="0" err="1">
                <a:effectLst/>
                <a:latin typeface="IRNazanin" panose="02000506000000020002" pitchFamily="2" charset="-78"/>
                <a:cs typeface="IRNazanin" panose="02000506000000020002" pitchFamily="2" charset="-78"/>
              </a:rPr>
              <a:t>محیط‌هایی</a:t>
            </a:r>
            <a:r>
              <a:rPr lang="fa-IR" b="0" i="0" dirty="0">
                <a:effectLst/>
                <a:latin typeface="IRNazanin" panose="02000506000000020002" pitchFamily="2" charset="-78"/>
                <a:cs typeface="IRNazanin" panose="02000506000000020002" pitchFamily="2" charset="-78"/>
              </a:rPr>
              <a:t> که امکان پایش دائمی توسط </a:t>
            </a:r>
            <a:r>
              <a:rPr lang="fa-IR" b="0" i="0" dirty="0" err="1">
                <a:effectLst/>
                <a:latin typeface="IRNazanin" panose="02000506000000020002" pitchFamily="2" charset="-78"/>
                <a:cs typeface="IRNazanin" panose="02000506000000020002" pitchFamily="2" charset="-78"/>
              </a:rPr>
              <a:t>اپراتور</a:t>
            </a:r>
            <a:r>
              <a:rPr lang="fa-IR" b="0" i="0" dirty="0">
                <a:effectLst/>
                <a:latin typeface="IRNazanin" panose="02000506000000020002" pitchFamily="2" charset="-78"/>
                <a:cs typeface="IRNazanin" panose="02000506000000020002" pitchFamily="2" charset="-78"/>
              </a:rPr>
              <a:t> انسانی برای تمام نقاط وجود ندارد.</a:t>
            </a:r>
          </a:p>
          <a:p>
            <a:pPr algn="just" rtl="1"/>
            <a:r>
              <a:rPr lang="fa-IR" b="0" i="0" dirty="0">
                <a:effectLst/>
                <a:latin typeface="IRNazanin" panose="02000506000000020002" pitchFamily="2" charset="-78"/>
                <a:cs typeface="IRNazanin" panose="02000506000000020002" pitchFamily="2" charset="-78"/>
              </a:rPr>
              <a:t>از طرف دیگر، </a:t>
            </a:r>
            <a:r>
              <a:rPr lang="fa-IR" b="0" i="0" dirty="0" err="1">
                <a:effectLst/>
                <a:latin typeface="IRNazanin" panose="02000506000000020002" pitchFamily="2" charset="-78"/>
                <a:cs typeface="IRNazanin" panose="02000506000000020002" pitchFamily="2" charset="-78"/>
              </a:rPr>
              <a:t>روش‌های</a:t>
            </a:r>
            <a:r>
              <a:rPr lang="fa-IR" b="0" i="0" dirty="0">
                <a:effectLst/>
                <a:latin typeface="IRNazanin" panose="02000506000000020002" pitchFamily="2" charset="-78"/>
                <a:cs typeface="IRNazanin" panose="02000506000000020002" pitchFamily="2" charset="-78"/>
              </a:rPr>
              <a:t> موجود برای تحلیل خودکار صدا با </a:t>
            </a:r>
            <a:r>
              <a:rPr lang="fa-IR" b="0" i="0" dirty="0" err="1">
                <a:effectLst/>
                <a:latin typeface="IRNazanin" panose="02000506000000020002" pitchFamily="2" charset="-78"/>
                <a:cs typeface="IRNazanin" panose="02000506000000020002" pitchFamily="2" charset="-78"/>
              </a:rPr>
              <a:t>چالش‌هایی</a:t>
            </a:r>
            <a:r>
              <a:rPr lang="fa-IR" b="0" i="0" dirty="0">
                <a:effectLst/>
                <a:latin typeface="IRNazanin" panose="02000506000000020002" pitchFamily="2" charset="-78"/>
                <a:cs typeface="IRNazanin" panose="02000506000000020002" pitchFamily="2" charset="-78"/>
              </a:rPr>
              <a:t> مانند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محیطی، تنوع بالای رخدادهای صوتی، عدم توازن بین </a:t>
            </a:r>
            <a:r>
              <a:rPr lang="fa-IR" b="0" i="0" dirty="0" err="1">
                <a:effectLst/>
                <a:latin typeface="IRNazanin" panose="02000506000000020002" pitchFamily="2" charset="-78"/>
                <a:cs typeface="IRNazanin" panose="02000506000000020002" pitchFamily="2" charset="-78"/>
              </a:rPr>
              <a:t>داده‌های</a:t>
            </a:r>
            <a:r>
              <a:rPr lang="fa-IR" b="0" i="0" dirty="0">
                <a:effectLst/>
                <a:latin typeface="IRNazanin" panose="02000506000000020002" pitchFamily="2" charset="-78"/>
                <a:cs typeface="IRNazanin" panose="02000506000000020002" pitchFamily="2" charset="-78"/>
              </a:rPr>
              <a:t> رخداد و </a:t>
            </a:r>
            <a:r>
              <a:rPr lang="fa-IR" b="0" i="0" dirty="0" err="1">
                <a:effectLst/>
                <a:latin typeface="IRNazanin" panose="02000506000000020002" pitchFamily="2" charset="-78"/>
                <a:cs typeface="IRNazanin" panose="02000506000000020002" pitchFamily="2" charset="-78"/>
              </a:rPr>
              <a:t>داده‌های</a:t>
            </a:r>
            <a:r>
              <a:rPr lang="fa-IR" b="0" i="0" dirty="0">
                <a:effectLst/>
                <a:latin typeface="IRNazanin" panose="02000506000000020002" pitchFamily="2" charset="-78"/>
                <a:cs typeface="IRNazanin" panose="02000506000000020002" pitchFamily="2" charset="-78"/>
              </a:rPr>
              <a:t> عادی و همچنین محدودیت دقت </a:t>
            </a:r>
            <a:r>
              <a:rPr lang="fa-IR" b="0" i="0" dirty="0" err="1">
                <a:effectLst/>
                <a:latin typeface="IRNazanin" panose="02000506000000020002" pitchFamily="2" charset="-78"/>
                <a:cs typeface="IRNazanin" panose="02000506000000020002" pitchFamily="2" charset="-78"/>
              </a:rPr>
              <a:t>مدل‌های</a:t>
            </a:r>
            <a:r>
              <a:rPr lang="fa-IR" b="0" i="0" dirty="0">
                <a:effectLst/>
                <a:latin typeface="IRNazanin" panose="02000506000000020002" pitchFamily="2" charset="-78"/>
                <a:cs typeface="IRNazanin" panose="02000506000000020002" pitchFamily="2" charset="-78"/>
              </a:rPr>
              <a:t> سنتی </a:t>
            </a:r>
            <a:r>
              <a:rPr lang="fa-IR" b="0" i="0" dirty="0" err="1">
                <a:effectLst/>
                <a:latin typeface="IRNazanin" panose="02000506000000020002" pitchFamily="2" charset="-78"/>
                <a:cs typeface="IRNazanin" panose="02000506000000020002" pitchFamily="2" charset="-78"/>
              </a:rPr>
              <a:t>روبه‌رو</a:t>
            </a:r>
            <a:r>
              <a:rPr lang="fa-IR" b="0" i="0" dirty="0">
                <a:effectLst/>
                <a:latin typeface="IRNazanin" panose="02000506000000020002" pitchFamily="2" charset="-78"/>
                <a:cs typeface="IRNazanin" panose="02000506000000020002" pitchFamily="2" charset="-78"/>
              </a:rPr>
              <a:t> هستند. این </a:t>
            </a:r>
            <a:r>
              <a:rPr lang="fa-IR" b="0" i="0" dirty="0" err="1">
                <a:effectLst/>
                <a:latin typeface="IRNazanin" panose="02000506000000020002" pitchFamily="2" charset="-78"/>
                <a:cs typeface="IRNazanin" panose="02000506000000020002" pitchFamily="2" charset="-78"/>
              </a:rPr>
              <a:t>چالش‌ها</a:t>
            </a:r>
            <a:r>
              <a:rPr lang="fa-IR" b="0" i="0" dirty="0">
                <a:effectLst/>
                <a:latin typeface="IRNazanin" panose="02000506000000020002" pitchFamily="2" charset="-78"/>
                <a:cs typeface="IRNazanin" panose="02000506000000020002" pitchFamily="2" charset="-78"/>
              </a:rPr>
              <a:t> باعث </a:t>
            </a:r>
            <a:r>
              <a:rPr lang="fa-IR" b="0" i="0" dirty="0" err="1">
                <a:effectLst/>
                <a:latin typeface="IRNazanin" panose="02000506000000020002" pitchFamily="2" charset="-78"/>
                <a:cs typeface="IRNazanin" panose="02000506000000020002" pitchFamily="2" charset="-78"/>
              </a:rPr>
              <a:t>می‌شود</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فعلی در شرایط واقعی عملکرد پایدار و قابل اعتمادی نداشته باشند. بنابراین نیاز به مدلی وجود دارد که بتواند در جریان پیوسته صدا، رخدادهای مهم و غیرعادی را با دقت مناسب تشخیص داده و </a:t>
            </a:r>
            <a:r>
              <a:rPr lang="fa-IR" b="0" i="0" dirty="0" err="1">
                <a:effectLst/>
                <a:latin typeface="IRNazanin" panose="02000506000000020002" pitchFamily="2" charset="-78"/>
                <a:cs typeface="IRNazanin" panose="02000506000000020002" pitchFamily="2" charset="-78"/>
              </a:rPr>
              <a:t>آن‌ها</a:t>
            </a:r>
            <a:r>
              <a:rPr lang="fa-IR" b="0" i="0" dirty="0">
                <a:effectLst/>
                <a:latin typeface="IRNazanin" panose="02000506000000020002" pitchFamily="2" charset="-78"/>
                <a:cs typeface="IRNazanin" panose="02000506000000020002" pitchFamily="2" charset="-78"/>
              </a:rPr>
              <a:t> را در قالب </a:t>
            </a:r>
            <a:r>
              <a:rPr lang="fa-IR" b="0" i="0" dirty="0" err="1">
                <a:effectLst/>
                <a:latin typeface="IRNazanin" panose="02000506000000020002" pitchFamily="2" charset="-78"/>
                <a:cs typeface="IRNazanin" panose="02000506000000020002" pitchFamily="2" charset="-78"/>
              </a:rPr>
              <a:t>کلاس‌های</a:t>
            </a:r>
            <a:r>
              <a:rPr lang="fa-IR" b="0" i="0" dirty="0">
                <a:effectLst/>
                <a:latin typeface="IRNazanin" panose="02000506000000020002" pitchFamily="2" charset="-78"/>
                <a:cs typeface="IRNazanin" panose="02000506000000020002" pitchFamily="2" charset="-78"/>
              </a:rPr>
              <a:t> مشخص مانند گریه نوزاد، شکستن شیشه، شلیک و گفتار در مقابل حالت بدون رخداد </a:t>
            </a:r>
            <a:r>
              <a:rPr lang="fa-IR" b="0" i="0" dirty="0" err="1">
                <a:effectLst/>
                <a:latin typeface="IRNazanin" panose="02000506000000020002" pitchFamily="2" charset="-78"/>
                <a:cs typeface="IRNazanin" panose="02000506000000020002" pitchFamily="2" charset="-78"/>
              </a:rPr>
              <a:t>طبقه‌بندی</a:t>
            </a:r>
            <a:r>
              <a:rPr lang="fa-IR" b="0" i="0" dirty="0">
                <a:effectLst/>
                <a:latin typeface="IRNazanin" panose="02000506000000020002" pitchFamily="2" charset="-78"/>
                <a:cs typeface="IRNazanin" panose="02000506000000020002" pitchFamily="2" charset="-78"/>
              </a:rPr>
              <a:t> کند و در عین حال نسبت به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و تغییرات محیطی مقاوم باشد. در این پروژه، این مسئله با تکیه بر </a:t>
            </a:r>
            <a:r>
              <a:rPr lang="fa-IR" b="0" i="0" dirty="0" err="1">
                <a:effectLst/>
                <a:latin typeface="IRNazanin" panose="02000506000000020002" pitchFamily="2" charset="-78"/>
                <a:cs typeface="IRNazanin" panose="02000506000000020002" pitchFamily="2" charset="-78"/>
              </a:rPr>
              <a:t>معماری‌های</a:t>
            </a:r>
            <a:r>
              <a:rPr lang="fa-IR" b="0" i="0" dirty="0">
                <a:effectLst/>
                <a:latin typeface="IRNazanin" panose="02000506000000020002" pitchFamily="2" charset="-78"/>
                <a:cs typeface="IRNazanin" panose="02000506000000020002" pitchFamily="2" charset="-78"/>
              </a:rPr>
              <a:t> نوین یادگیری عمیق و </a:t>
            </a:r>
            <a:r>
              <a:rPr lang="fa-IR" b="0" i="0" dirty="0" err="1">
                <a:effectLst/>
                <a:latin typeface="IRNazanin" panose="02000506000000020002" pitchFamily="2" charset="-78"/>
                <a:cs typeface="IRNazanin" panose="02000506000000020002" pitchFamily="2" charset="-78"/>
              </a:rPr>
              <a:t>بهره‌گیری</a:t>
            </a:r>
            <a:r>
              <a:rPr lang="fa-IR" b="0" i="0" dirty="0">
                <a:effectLst/>
                <a:latin typeface="IRNazanin" panose="02000506000000020002" pitchFamily="2" charset="-78"/>
                <a:cs typeface="IRNazanin" panose="02000506000000020002" pitchFamily="2" charset="-78"/>
              </a:rPr>
              <a:t> همزمان از سیگنال خام و </a:t>
            </a:r>
            <a:r>
              <a:rPr lang="fa-IR" b="0" i="0" dirty="0" err="1">
                <a:effectLst/>
                <a:latin typeface="IRNazanin" panose="02000506000000020002" pitchFamily="2" charset="-78"/>
                <a:cs typeface="IRNazanin" panose="02000506000000020002" pitchFamily="2" charset="-78"/>
              </a:rPr>
              <a:t>ویژگی‌های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طیفی</a:t>
            </a:r>
            <a:r>
              <a:rPr lang="fa-IR" b="0" i="0" dirty="0">
                <a:effectLst/>
                <a:latin typeface="IRNazanin" panose="02000506000000020002" pitchFamily="2" charset="-78"/>
                <a:cs typeface="IRNazanin" panose="02000506000000020002" pitchFamily="2" charset="-78"/>
              </a:rPr>
              <a:t> مورد توجه قرار گرفته است تا گامی در جهت طراحی </a:t>
            </a:r>
            <a:r>
              <a:rPr lang="fa-IR" b="0" i="0" dirty="0" err="1">
                <a:effectLst/>
                <a:latin typeface="IRNazanin" panose="02000506000000020002" pitchFamily="2" charset="-78"/>
                <a:cs typeface="IRNazanin" panose="02000506000000020002" pitchFamily="2" charset="-78"/>
              </a:rPr>
              <a:t>سامانه‌های</a:t>
            </a:r>
            <a:r>
              <a:rPr lang="fa-IR" b="0" i="0" dirty="0">
                <a:effectLst/>
                <a:latin typeface="IRNazanin" panose="02000506000000020002" pitchFamily="2" charset="-78"/>
                <a:cs typeface="IRNazanin" panose="02000506000000020002" pitchFamily="2" charset="-78"/>
              </a:rPr>
              <a:t> شنیداری هوشمند و کارآمد برای پایش امنیتی برداشته شود.</a:t>
            </a:r>
          </a:p>
          <a:p>
            <a:pPr algn="just"/>
            <a:endParaRPr lang="en-US" dirty="0">
              <a:latin typeface="IRNazanin" panose="02000506000000020002" pitchFamily="2" charset="-78"/>
              <a:cs typeface="IRNazanin" panose="02000506000000020002" pitchFamily="2" charset="-78"/>
            </a:endParaRPr>
          </a:p>
        </p:txBody>
      </p:sp>
      <p:sp>
        <p:nvSpPr>
          <p:cNvPr id="46" name="Text Placeholder 45">
            <a:extLst>
              <a:ext uri="{FF2B5EF4-FFF2-40B4-BE49-F238E27FC236}">
                <a16:creationId xmlns:a16="http://schemas.microsoft.com/office/drawing/2014/main" id="{F339D179-7BE5-4B68-9C1D-13C7B56D467F}"/>
              </a:ext>
            </a:extLst>
          </p:cNvPr>
          <p:cNvSpPr>
            <a:spLocks noGrp="1"/>
          </p:cNvSpPr>
          <p:nvPr>
            <p:ph type="body" sz="quarter" idx="27"/>
          </p:nvPr>
        </p:nvSpPr>
        <p:spPr>
          <a:xfrm>
            <a:off x="29348578" y="18632645"/>
            <a:ext cx="13576029" cy="754045"/>
          </a:xfrm>
        </p:spPr>
        <p:txBody>
          <a:bodyPr/>
          <a:lstStyle/>
          <a:p>
            <a:pPr marL="0" indent="0" algn="ctr" defTabSz="4388900" rtl="1" eaLnBrk="1" latinLnBrk="0" hangingPunct="1">
              <a:spcBef>
                <a:spcPct val="20000"/>
              </a:spcBef>
              <a:buFont typeface="Arial" pitchFamily="34" charset="0"/>
              <a:buNone/>
              <a:tabLst/>
            </a:pPr>
            <a:r>
              <a:rPr lang="fa-IR" dirty="0"/>
              <a:t>ادبیات پژوهش</a:t>
            </a:r>
            <a:endParaRPr lang="en-US" dirty="0"/>
          </a:p>
        </p:txBody>
      </p:sp>
      <p:sp>
        <p:nvSpPr>
          <p:cNvPr id="47" name="Text Placeholder 46">
            <a:extLst>
              <a:ext uri="{FF2B5EF4-FFF2-40B4-BE49-F238E27FC236}">
                <a16:creationId xmlns:a16="http://schemas.microsoft.com/office/drawing/2014/main" id="{FC906BF4-CE88-48FE-A0C9-E785A5096854}"/>
              </a:ext>
            </a:extLst>
          </p:cNvPr>
          <p:cNvSpPr>
            <a:spLocks noGrp="1"/>
          </p:cNvSpPr>
          <p:nvPr>
            <p:ph type="body" sz="quarter" idx="28"/>
          </p:nvPr>
        </p:nvSpPr>
        <p:spPr>
          <a:xfrm>
            <a:off x="29422790" y="19361321"/>
            <a:ext cx="13581061" cy="8848554"/>
          </a:xfrm>
        </p:spPr>
        <p:txBody>
          <a:bodyPr/>
          <a:lstStyle/>
          <a:p>
            <a:pPr algn="just" rtl="1"/>
            <a:r>
              <a:rPr lang="fa-IR" i="0" dirty="0">
                <a:effectLst/>
                <a:latin typeface="IRNazanin" panose="02000506000000020002" pitchFamily="2" charset="-78"/>
                <a:cs typeface="IRNazanin" panose="02000506000000020002" pitchFamily="2" charset="-78"/>
              </a:rPr>
              <a:t>در </a:t>
            </a:r>
            <a:r>
              <a:rPr lang="fa-IR" i="0" dirty="0" err="1">
                <a:effectLst/>
                <a:latin typeface="IRNazanin" panose="02000506000000020002" pitchFamily="2" charset="-78"/>
                <a:cs typeface="IRNazanin" panose="02000506000000020002" pitchFamily="2" charset="-78"/>
              </a:rPr>
              <a:t>سال‌های</a:t>
            </a:r>
            <a:r>
              <a:rPr lang="fa-IR" i="0" dirty="0">
                <a:effectLst/>
                <a:latin typeface="IRNazanin" panose="02000506000000020002" pitchFamily="2" charset="-78"/>
                <a:cs typeface="IRNazanin" panose="02000506000000020002" pitchFamily="2" charset="-78"/>
              </a:rPr>
              <a:t> اخیر، پیشرفت‌ </a:t>
            </a:r>
            <a:r>
              <a:rPr lang="fa-IR" i="0" dirty="0" err="1">
                <a:effectLst/>
                <a:latin typeface="IRNazanin" panose="02000506000000020002" pitchFamily="2" charset="-78"/>
                <a:cs typeface="IRNazanin" panose="02000506000000020002" pitchFamily="2" charset="-78"/>
              </a:rPr>
              <a:t>چشم‌گیر</a:t>
            </a:r>
            <a:r>
              <a:rPr lang="fa-IR" i="0" dirty="0">
                <a:effectLst/>
                <a:latin typeface="IRNazanin" panose="02000506000000020002" pitchFamily="2" charset="-78"/>
                <a:cs typeface="IRNazanin" panose="02000506000000020002" pitchFamily="2" charset="-78"/>
              </a:rPr>
              <a:t> در حوزه </a:t>
            </a:r>
            <a:r>
              <a:rPr lang="fa-IR" i="1" dirty="0">
                <a:effectLst/>
                <a:latin typeface="IRNazanin" panose="02000506000000020002" pitchFamily="2" charset="-78"/>
                <a:cs typeface="IRNazanin" panose="02000506000000020002" pitchFamily="2" charset="-78"/>
              </a:rPr>
              <a:t>پردازش سیگنال صوتی</a:t>
            </a:r>
            <a:r>
              <a:rPr lang="fa-IR" i="0" dirty="0">
                <a:effectLst/>
                <a:latin typeface="IRNazanin" panose="02000506000000020002" pitchFamily="2" charset="-78"/>
                <a:cs typeface="IRNazanin" panose="02000506000000020002" pitchFamily="2" charset="-78"/>
              </a:rPr>
              <a:t> و </a:t>
            </a:r>
            <a:r>
              <a:rPr lang="fa-IR" i="1" dirty="0">
                <a:effectLst/>
                <a:latin typeface="IRNazanin" panose="02000506000000020002" pitchFamily="2" charset="-78"/>
                <a:cs typeface="IRNazanin" panose="02000506000000020002" pitchFamily="2" charset="-78"/>
              </a:rPr>
              <a:t>یادگیری عمیق</a:t>
            </a:r>
            <a:r>
              <a:rPr lang="fa-IR" i="0" dirty="0">
                <a:effectLst/>
                <a:latin typeface="IRNazanin" panose="02000506000000020002" pitchFamily="2" charset="-78"/>
                <a:cs typeface="IRNazanin" panose="02000506000000020002" pitchFamily="2" charset="-78"/>
              </a:rPr>
              <a:t> باعث شده است </a:t>
            </a:r>
            <a:r>
              <a:rPr lang="fa-IR" i="0" dirty="0" err="1">
                <a:effectLst/>
                <a:latin typeface="IRNazanin" panose="02000506000000020002" pitchFamily="2" charset="-78"/>
                <a:cs typeface="IRNazanin" panose="02000506000000020002" pitchFamily="2" charset="-78"/>
              </a:rPr>
              <a:t>روش‌های</a:t>
            </a:r>
            <a:r>
              <a:rPr lang="fa-IR" i="0" dirty="0">
                <a:effectLst/>
                <a:latin typeface="IRNazanin" panose="02000506000000020002" pitchFamily="2" charset="-78"/>
                <a:cs typeface="IRNazanin" panose="02000506000000020002" pitchFamily="2" charset="-78"/>
              </a:rPr>
              <a:t> تحلیل خودکار صدا در کاربردهایی مانند پایش امنیتی، نظارت محیطی و </a:t>
            </a:r>
            <a:r>
              <a:rPr lang="fa-IR" i="0" dirty="0" err="1">
                <a:effectLst/>
                <a:latin typeface="IRNazanin" panose="02000506000000020002" pitchFamily="2" charset="-78"/>
                <a:cs typeface="IRNazanin" panose="02000506000000020002" pitchFamily="2" charset="-78"/>
              </a:rPr>
              <a:t>سامانه‌های</a:t>
            </a:r>
            <a:r>
              <a:rPr lang="fa-IR" i="0" dirty="0">
                <a:effectLst/>
                <a:latin typeface="IRNazanin" panose="02000506000000020002" pitchFamily="2" charset="-78"/>
                <a:cs typeface="IRNazanin" panose="02000506000000020002" pitchFamily="2" charset="-78"/>
              </a:rPr>
              <a:t> هشداردهنده جایگاه مهمی پیدا کنند. در </a:t>
            </a:r>
            <a:r>
              <a:rPr lang="fa-IR" i="0" dirty="0" err="1">
                <a:effectLst/>
                <a:latin typeface="IRNazanin" panose="02000506000000020002" pitchFamily="2" charset="-78"/>
                <a:cs typeface="IRNazanin" panose="02000506000000020002" pitchFamily="2" charset="-78"/>
              </a:rPr>
              <a:t>رقابت‌ها</a:t>
            </a:r>
            <a:r>
              <a:rPr lang="fa-IR" i="0" dirty="0">
                <a:effectLst/>
                <a:latin typeface="IRNazanin" panose="02000506000000020002" pitchFamily="2" charset="-78"/>
                <a:cs typeface="IRNazanin" panose="02000506000000020002" pitchFamily="2" charset="-78"/>
              </a:rPr>
              <a:t> و </a:t>
            </a:r>
            <a:r>
              <a:rPr lang="fa-IR" i="0" dirty="0" err="1">
                <a:effectLst/>
                <a:latin typeface="IRNazanin" panose="02000506000000020002" pitchFamily="2" charset="-78"/>
                <a:cs typeface="IRNazanin" panose="02000506000000020002" pitchFamily="2" charset="-78"/>
              </a:rPr>
              <a:t>پژوهش‌های</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بین‌المللی</a:t>
            </a:r>
            <a:r>
              <a:rPr lang="fa-IR" i="0" dirty="0">
                <a:effectLst/>
                <a:latin typeface="IRNazanin" panose="02000506000000020002" pitchFamily="2" charset="-78"/>
                <a:cs typeface="IRNazanin" panose="02000506000000020002" pitchFamily="2" charset="-78"/>
              </a:rPr>
              <a:t> مانند DCASE نشان داده شده است که استفاده از </a:t>
            </a:r>
            <a:r>
              <a:rPr lang="fa-IR" i="0" dirty="0" err="1">
                <a:effectLst/>
                <a:latin typeface="IRNazanin" panose="02000506000000020002" pitchFamily="2" charset="-78"/>
                <a:cs typeface="IRNazanin" panose="02000506000000020002" pitchFamily="2" charset="-78"/>
              </a:rPr>
              <a:t>نمایش‌های</a:t>
            </a:r>
            <a:r>
              <a:rPr lang="fa-IR" i="0" dirty="0">
                <a:effectLst/>
                <a:latin typeface="IRNazanin" panose="02000506000000020002" pitchFamily="2" charset="-78"/>
                <a:cs typeface="IRNazanin" panose="02000506000000020002" pitchFamily="2" charset="-78"/>
              </a:rPr>
              <a:t> زمان–فرکانس نظیر </a:t>
            </a:r>
            <a:r>
              <a:rPr lang="fa-IR" i="0" dirty="0" err="1">
                <a:effectLst/>
                <a:latin typeface="IRNazanin" panose="02000506000000020002" pitchFamily="2" charset="-78"/>
                <a:cs typeface="IRNazanin" panose="02000506000000020002" pitchFamily="2" charset="-78"/>
              </a:rPr>
              <a:t>اسپکتوگرام</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لاگ</a:t>
            </a:r>
            <a:r>
              <a:rPr lang="fa-IR" i="0" dirty="0">
                <a:effectLst/>
                <a:latin typeface="IRNazanin" panose="02000506000000020002" pitchFamily="2" charset="-78"/>
                <a:cs typeface="IRNazanin" panose="02000506000000020002" pitchFamily="2" charset="-78"/>
              </a:rPr>
              <a:t> مل در کنار </a:t>
            </a:r>
            <a:r>
              <a:rPr lang="fa-IR" i="0" dirty="0" err="1">
                <a:effectLst/>
                <a:latin typeface="IRNazanin" panose="02000506000000020002" pitchFamily="2" charset="-78"/>
                <a:cs typeface="IRNazanin" panose="02000506000000020002" pitchFamily="2" charset="-78"/>
              </a:rPr>
              <a:t>مدل‌های</a:t>
            </a:r>
            <a:r>
              <a:rPr lang="fa-IR" i="0" dirty="0">
                <a:effectLst/>
                <a:latin typeface="IRNazanin" panose="02000506000000020002" pitchFamily="2" charset="-78"/>
                <a:cs typeface="IRNazanin" panose="02000506000000020002" pitchFamily="2" charset="-78"/>
              </a:rPr>
              <a:t> عمیق، </a:t>
            </a:r>
            <a:r>
              <a:rPr lang="fa-IR" i="0" dirty="0" err="1">
                <a:effectLst/>
                <a:latin typeface="IRNazanin" panose="02000506000000020002" pitchFamily="2" charset="-78"/>
                <a:cs typeface="IRNazanin" panose="02000506000000020002" pitchFamily="2" charset="-78"/>
              </a:rPr>
              <a:t>به‌ویژه</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شبکه‌های</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کانولوشنی</a:t>
            </a:r>
            <a:r>
              <a:rPr lang="fa-IR" i="0" dirty="0">
                <a:effectLst/>
                <a:latin typeface="IRNazanin" panose="02000506000000020002" pitchFamily="2" charset="-78"/>
                <a:cs typeface="IRNazanin" panose="02000506000000020002" pitchFamily="2" charset="-78"/>
              </a:rPr>
              <a:t>، توانایی بالایی در </a:t>
            </a:r>
            <a:r>
              <a:rPr lang="fa-IR" i="0" dirty="0" err="1">
                <a:effectLst/>
                <a:latin typeface="IRNazanin" panose="02000506000000020002" pitchFamily="2" charset="-78"/>
                <a:cs typeface="IRNazanin" panose="02000506000000020002" pitchFamily="2" charset="-78"/>
              </a:rPr>
              <a:t>مدل‌سازی</a:t>
            </a:r>
            <a:r>
              <a:rPr lang="fa-IR" i="0" dirty="0">
                <a:effectLst/>
                <a:latin typeface="IRNazanin" panose="02000506000000020002" pitchFamily="2" charset="-78"/>
                <a:cs typeface="IRNazanin" panose="02000506000000020002" pitchFamily="2" charset="-78"/>
              </a:rPr>
              <a:t> الگوهای صوتی پیچیده و تشخیص رخدادهای نادر دارد. با این حال، این </a:t>
            </a:r>
            <a:r>
              <a:rPr lang="fa-IR" i="0" dirty="0" err="1">
                <a:effectLst/>
                <a:latin typeface="IRNazanin" panose="02000506000000020002" pitchFamily="2" charset="-78"/>
                <a:cs typeface="IRNazanin" panose="02000506000000020002" pitchFamily="2" charset="-78"/>
              </a:rPr>
              <a:t>نمایش‌ها</a:t>
            </a:r>
            <a:r>
              <a:rPr lang="fa-IR" i="0" dirty="0">
                <a:effectLst/>
                <a:latin typeface="IRNazanin" panose="02000506000000020002" pitchFamily="2" charset="-78"/>
                <a:cs typeface="IRNazanin" panose="02000506000000020002" pitchFamily="2" charset="-78"/>
              </a:rPr>
              <a:t> در استخراج </a:t>
            </a:r>
            <a:r>
              <a:rPr lang="fa-IR" i="0" dirty="0" err="1">
                <a:effectLst/>
                <a:latin typeface="IRNazanin" panose="02000506000000020002" pitchFamily="2" charset="-78"/>
                <a:cs typeface="IRNazanin" panose="02000506000000020002" pitchFamily="2" charset="-78"/>
              </a:rPr>
              <a:t>ویژگی‌های</a:t>
            </a:r>
            <a:r>
              <a:rPr lang="fa-IR" i="0" dirty="0">
                <a:effectLst/>
                <a:latin typeface="IRNazanin" panose="02000506000000020002" pitchFamily="2" charset="-78"/>
                <a:cs typeface="IRNazanin" panose="02000506000000020002" pitchFamily="2" charset="-78"/>
              </a:rPr>
              <a:t> زمانی دقیق محدودیت دارند و عملکرد مدل را در مواجهه با </a:t>
            </a:r>
            <a:r>
              <a:rPr lang="fa-IR" i="0" dirty="0" err="1">
                <a:effectLst/>
                <a:latin typeface="IRNazanin" panose="02000506000000020002" pitchFamily="2" charset="-78"/>
                <a:cs typeface="IRNazanin" panose="02000506000000020002" pitchFamily="2" charset="-78"/>
              </a:rPr>
              <a:t>نویز</a:t>
            </a:r>
            <a:r>
              <a:rPr lang="fa-IR" i="0" dirty="0">
                <a:effectLst/>
                <a:latin typeface="IRNazanin" panose="02000506000000020002" pitchFamily="2" charset="-78"/>
                <a:cs typeface="IRNazanin" panose="02000506000000020002" pitchFamily="2" charset="-78"/>
              </a:rPr>
              <a:t> یا رخدادهای </a:t>
            </a:r>
            <a:r>
              <a:rPr lang="fa-IR" i="0" dirty="0" err="1">
                <a:effectLst/>
                <a:latin typeface="IRNazanin" panose="02000506000000020002" pitchFamily="2" charset="-78"/>
                <a:cs typeface="IRNazanin" panose="02000506000000020002" pitchFamily="2" charset="-78"/>
              </a:rPr>
              <a:t>کوتاه‌مدت</a:t>
            </a:r>
            <a:r>
              <a:rPr lang="fa-IR" i="0" dirty="0">
                <a:effectLst/>
                <a:latin typeface="IRNazanin" panose="02000506000000020002" pitchFamily="2" charset="-78"/>
                <a:cs typeface="IRNazanin" panose="02000506000000020002" pitchFamily="2" charset="-78"/>
              </a:rPr>
              <a:t> کاهش </a:t>
            </a:r>
            <a:r>
              <a:rPr lang="fa-IR" i="0" dirty="0" err="1">
                <a:effectLst/>
                <a:latin typeface="IRNazanin" panose="02000506000000020002" pitchFamily="2" charset="-78"/>
                <a:cs typeface="IRNazanin" panose="02000506000000020002" pitchFamily="2" charset="-78"/>
              </a:rPr>
              <a:t>می‌دهند</a:t>
            </a:r>
            <a:r>
              <a:rPr lang="fa-IR" i="0" dirty="0">
                <a:effectLst/>
                <a:latin typeface="IRNazanin" panose="02000506000000020002" pitchFamily="2" charset="-78"/>
                <a:cs typeface="IRNazanin" panose="02000506000000020002" pitchFamily="2" charset="-78"/>
              </a:rPr>
              <a:t>.</a:t>
            </a:r>
          </a:p>
          <a:p>
            <a:pPr algn="just" rtl="1"/>
            <a:r>
              <a:rPr lang="fa-IR" i="0" dirty="0">
                <a:effectLst/>
                <a:latin typeface="IRNazanin" panose="02000506000000020002" pitchFamily="2" charset="-78"/>
                <a:cs typeface="IRNazanin" panose="02000506000000020002" pitchFamily="2" charset="-78"/>
              </a:rPr>
              <a:t>برای رفع این چالش، رویکردهای جدیدی معرفی </a:t>
            </a:r>
            <a:r>
              <a:rPr lang="fa-IR" i="0" dirty="0" err="1">
                <a:effectLst/>
                <a:latin typeface="IRNazanin" panose="02000506000000020002" pitchFamily="2" charset="-78"/>
                <a:cs typeface="IRNazanin" panose="02000506000000020002" pitchFamily="2" charset="-78"/>
              </a:rPr>
              <a:t>شده‌اند</a:t>
            </a:r>
            <a:r>
              <a:rPr lang="fa-IR" i="0" dirty="0">
                <a:effectLst/>
                <a:latin typeface="IRNazanin" panose="02000506000000020002" pitchFamily="2" charset="-78"/>
                <a:cs typeface="IRNazanin" panose="02000506000000020002" pitchFamily="2" charset="-78"/>
              </a:rPr>
              <a:t> که علاوه بر </a:t>
            </a:r>
            <a:r>
              <a:rPr lang="fa-IR" i="0" dirty="0" err="1">
                <a:effectLst/>
                <a:latin typeface="IRNazanin" panose="02000506000000020002" pitchFamily="2" charset="-78"/>
                <a:cs typeface="IRNazanin" panose="02000506000000020002" pitchFamily="2" charset="-78"/>
              </a:rPr>
              <a:t>ویژگی‌های</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طیفی</a:t>
            </a:r>
            <a:r>
              <a:rPr lang="fa-IR" i="0" dirty="0">
                <a:effectLst/>
                <a:latin typeface="IRNazanin" panose="02000506000000020002" pitchFamily="2" charset="-78"/>
                <a:cs typeface="IRNazanin" panose="02000506000000020002" pitchFamily="2" charset="-78"/>
              </a:rPr>
              <a:t>، اطلاعات مستقیم از سیگنال خام را نیز وارد فرایند استخراج ویژگی </a:t>
            </a:r>
            <a:r>
              <a:rPr lang="fa-IR" i="0" dirty="0" err="1">
                <a:effectLst/>
                <a:latin typeface="IRNazanin" panose="02000506000000020002" pitchFamily="2" charset="-78"/>
                <a:cs typeface="IRNazanin" panose="02000506000000020002" pitchFamily="2" charset="-78"/>
              </a:rPr>
              <a:t>می‌کنند</a:t>
            </a:r>
            <a:r>
              <a:rPr lang="fa-IR" i="0" dirty="0">
                <a:effectLst/>
                <a:latin typeface="IRNazanin" panose="02000506000000020002" pitchFamily="2" charset="-78"/>
                <a:cs typeface="IRNazanin" panose="02000506000000020002" pitchFamily="2" charset="-78"/>
              </a:rPr>
              <a:t>. یکی از این </a:t>
            </a:r>
            <a:r>
              <a:rPr lang="fa-IR" i="0" dirty="0" err="1">
                <a:effectLst/>
                <a:latin typeface="IRNazanin" panose="02000506000000020002" pitchFamily="2" charset="-78"/>
                <a:cs typeface="IRNazanin" panose="02000506000000020002" pitchFamily="2" charset="-78"/>
              </a:rPr>
              <a:t>روش‌ها</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Tgram</a:t>
            </a:r>
            <a:r>
              <a:rPr lang="fa-IR" i="0" dirty="0">
                <a:effectLst/>
                <a:latin typeface="IRNazanin" panose="02000506000000020002" pitchFamily="2" charset="-78"/>
                <a:cs typeface="IRNazanin" panose="02000506000000020002" pitchFamily="2" charset="-78"/>
              </a:rPr>
              <a:t> است که نمایی مبتنی بر موج خام صوت (شکل ۱) ارائه </a:t>
            </a:r>
            <a:r>
              <a:rPr lang="fa-IR" i="0" dirty="0" err="1">
                <a:effectLst/>
                <a:latin typeface="IRNazanin" panose="02000506000000020002" pitchFamily="2" charset="-78"/>
                <a:cs typeface="IRNazanin" panose="02000506000000020002" pitchFamily="2" charset="-78"/>
              </a:rPr>
              <a:t>می‌دهد</a:t>
            </a:r>
            <a:r>
              <a:rPr lang="fa-IR" i="0" dirty="0">
                <a:effectLst/>
                <a:latin typeface="IRNazanin" panose="02000506000000020002" pitchFamily="2" charset="-78"/>
                <a:cs typeface="IRNazanin" panose="02000506000000020002" pitchFamily="2" charset="-78"/>
              </a:rPr>
              <a:t> و اطلاعات زمانی مکملی را نسبت به </a:t>
            </a:r>
            <a:r>
              <a:rPr lang="fa-IR" i="0" dirty="0" err="1">
                <a:effectLst/>
                <a:latin typeface="IRNazanin" panose="02000506000000020002" pitchFamily="2" charset="-78"/>
                <a:cs typeface="IRNazanin" panose="02000506000000020002" pitchFamily="2" charset="-78"/>
              </a:rPr>
              <a:t>اسپکتروگرام‌ها</a:t>
            </a:r>
            <a:r>
              <a:rPr lang="fa-IR" i="0" dirty="0">
                <a:effectLst/>
                <a:latin typeface="IRNazanin" panose="02000506000000020002" pitchFamily="2" charset="-78"/>
                <a:cs typeface="IRNazanin" panose="02000506000000020002" pitchFamily="2" charset="-78"/>
              </a:rPr>
              <a:t> (شکل ۲) فراهم </a:t>
            </a:r>
            <a:r>
              <a:rPr lang="fa-IR" i="0" dirty="0" err="1">
                <a:effectLst/>
                <a:latin typeface="IRNazanin" panose="02000506000000020002" pitchFamily="2" charset="-78"/>
                <a:cs typeface="IRNazanin" panose="02000506000000020002" pitchFamily="2" charset="-78"/>
              </a:rPr>
              <a:t>می‌سازد</a:t>
            </a:r>
            <a:r>
              <a:rPr lang="fa-IR" i="0" dirty="0">
                <a:effectLst/>
                <a:latin typeface="IRNazanin" panose="02000506000000020002" pitchFamily="2" charset="-78"/>
                <a:cs typeface="IRNazanin" panose="02000506000000020002" pitchFamily="2" charset="-78"/>
              </a:rPr>
              <a:t>. ترکیب این دو نما مبنای </a:t>
            </a:r>
            <a:r>
              <a:rPr lang="fa-IR" i="0" dirty="0" err="1">
                <a:effectLst/>
                <a:latin typeface="IRNazanin" panose="02000506000000020002" pitchFamily="2" charset="-78"/>
                <a:cs typeface="IRNazanin" panose="02000506000000020002" pitchFamily="2" charset="-78"/>
              </a:rPr>
              <a:t>روش‌های</a:t>
            </a:r>
            <a:r>
              <a:rPr lang="fa-IR" i="0" dirty="0">
                <a:effectLst/>
                <a:latin typeface="IRNazanin" panose="02000506000000020002" pitchFamily="2" charset="-78"/>
                <a:cs typeface="IRNazanin" panose="02000506000000020002" pitchFamily="2" charset="-78"/>
              </a:rPr>
              <a:t> جدیدتر نظیر </a:t>
            </a:r>
            <a:r>
              <a:rPr lang="fa-IR" i="0" dirty="0" err="1">
                <a:effectLst/>
                <a:latin typeface="IRNazanin" panose="02000506000000020002" pitchFamily="2" charset="-78"/>
                <a:cs typeface="IRNazanin" panose="02000506000000020002" pitchFamily="2" charset="-78"/>
              </a:rPr>
              <a:t>S</a:t>
            </a:r>
            <a:r>
              <a:rPr lang="en-US" i="0" dirty="0">
                <a:effectLst/>
                <a:latin typeface="IRNazanin" panose="02000506000000020002" pitchFamily="2" charset="-78"/>
                <a:cs typeface="IRNazanin" panose="02000506000000020002" pitchFamily="2" charset="-78"/>
              </a:rPr>
              <a:t>t</a:t>
            </a:r>
            <a:r>
              <a:rPr lang="fa-IR" i="0" dirty="0" err="1">
                <a:effectLst/>
                <a:latin typeface="IRNazanin" panose="02000506000000020002" pitchFamily="2" charset="-78"/>
                <a:cs typeface="IRNazanin" panose="02000506000000020002" pitchFamily="2" charset="-78"/>
              </a:rPr>
              <a:t>gram</a:t>
            </a:r>
            <a:r>
              <a:rPr lang="fa-IR" i="0" dirty="0">
                <a:effectLst/>
                <a:latin typeface="IRNazanin" panose="02000506000000020002" pitchFamily="2" charset="-78"/>
                <a:cs typeface="IRNazanin" panose="02000506000000020002" pitchFamily="2" charset="-78"/>
              </a:rPr>
              <a:t> (شکل ۳) است که </a:t>
            </a:r>
            <a:r>
              <a:rPr lang="fa-IR" i="0" dirty="0" err="1">
                <a:effectLst/>
                <a:latin typeface="IRNazanin" panose="02000506000000020002" pitchFamily="2" charset="-78"/>
                <a:cs typeface="IRNazanin" panose="02000506000000020002" pitchFamily="2" charset="-78"/>
              </a:rPr>
              <a:t>ویژگی‌های</a:t>
            </a:r>
            <a:r>
              <a:rPr lang="fa-IR" i="0" dirty="0">
                <a:effectLst/>
                <a:latin typeface="IRNazanin" panose="02000506000000020002" pitchFamily="2" charset="-78"/>
                <a:cs typeface="IRNazanin" panose="02000506000000020002" pitchFamily="2" charset="-78"/>
              </a:rPr>
              <a:t> زمانی و </a:t>
            </a:r>
            <a:r>
              <a:rPr lang="fa-IR" i="0" dirty="0" err="1">
                <a:effectLst/>
                <a:latin typeface="IRNazanin" panose="02000506000000020002" pitchFamily="2" charset="-78"/>
                <a:cs typeface="IRNazanin" panose="02000506000000020002" pitchFamily="2" charset="-78"/>
              </a:rPr>
              <a:t>طیفی</a:t>
            </a:r>
            <a:r>
              <a:rPr lang="fa-IR" i="0" dirty="0">
                <a:effectLst/>
                <a:latin typeface="IRNazanin" panose="02000506000000020002" pitchFamily="2" charset="-78"/>
                <a:cs typeface="IRNazanin" panose="02000506000000020002" pitchFamily="2" charset="-78"/>
              </a:rPr>
              <a:t> را به صورت تلفیقی ارائه </a:t>
            </a:r>
            <a:r>
              <a:rPr lang="fa-IR" i="0" dirty="0" err="1">
                <a:effectLst/>
                <a:latin typeface="IRNazanin" panose="02000506000000020002" pitchFamily="2" charset="-78"/>
                <a:cs typeface="IRNazanin" panose="02000506000000020002" pitchFamily="2" charset="-78"/>
              </a:rPr>
              <a:t>می‌کند</a:t>
            </a:r>
            <a:r>
              <a:rPr lang="fa-IR" i="0" dirty="0">
                <a:effectLst/>
                <a:latin typeface="IRNazanin" panose="02000506000000020002" pitchFamily="2" charset="-78"/>
                <a:cs typeface="IRNazanin" panose="02000506000000020002" pitchFamily="2" charset="-78"/>
              </a:rPr>
              <a:t> و نسبت به تغییرات محیطی و </a:t>
            </a:r>
            <a:r>
              <a:rPr lang="fa-IR" i="0" dirty="0" err="1">
                <a:effectLst/>
                <a:latin typeface="IRNazanin" panose="02000506000000020002" pitchFamily="2" charset="-78"/>
                <a:cs typeface="IRNazanin" panose="02000506000000020002" pitchFamily="2" charset="-78"/>
              </a:rPr>
              <a:t>نویز</a:t>
            </a:r>
            <a:r>
              <a:rPr lang="fa-IR" i="0" dirty="0">
                <a:effectLst/>
                <a:latin typeface="IRNazanin" panose="02000506000000020002" pitchFamily="2" charset="-78"/>
                <a:cs typeface="IRNazanin" panose="02000506000000020002" pitchFamily="2" charset="-78"/>
              </a:rPr>
              <a:t> پایداری بیشتری دارد. مطالعات اخیر در حوزه تشخیص </a:t>
            </a:r>
            <a:r>
              <a:rPr lang="fa-IR" i="0" dirty="0" err="1">
                <a:effectLst/>
                <a:latin typeface="IRNazanin" panose="02000506000000020002" pitchFamily="2" charset="-78"/>
                <a:cs typeface="IRNazanin" panose="02000506000000020002" pitchFamily="2" charset="-78"/>
              </a:rPr>
              <a:t>آنومالی</a:t>
            </a:r>
            <a:r>
              <a:rPr lang="fa-IR" i="0" dirty="0">
                <a:effectLst/>
                <a:latin typeface="IRNazanin" panose="02000506000000020002" pitchFamily="2" charset="-78"/>
                <a:cs typeface="IRNazanin" panose="02000506000000020002" pitchFamily="2" charset="-78"/>
              </a:rPr>
              <a:t> صوتی </a:t>
            </a:r>
            <a:r>
              <a:rPr lang="fa-IR" i="0" dirty="0" err="1">
                <a:effectLst/>
                <a:latin typeface="IRNazanin" panose="02000506000000020002" pitchFamily="2" charset="-78"/>
                <a:cs typeface="IRNazanin" panose="02000506000000020002" pitchFamily="2" charset="-78"/>
              </a:rPr>
              <a:t>ماشین‌ها</a:t>
            </a:r>
            <a:r>
              <a:rPr lang="fa-IR" i="0" dirty="0">
                <a:effectLst/>
                <a:latin typeface="IRNazanin" panose="02000506000000020002" pitchFamily="2" charset="-78"/>
                <a:cs typeface="IRNazanin" panose="02000506000000020002" pitchFamily="2" charset="-78"/>
              </a:rPr>
              <a:t> نشان </a:t>
            </a:r>
            <a:r>
              <a:rPr lang="fa-IR" i="0" dirty="0" err="1">
                <a:effectLst/>
                <a:latin typeface="IRNazanin" panose="02000506000000020002" pitchFamily="2" charset="-78"/>
                <a:cs typeface="IRNazanin" panose="02000506000000020002" pitchFamily="2" charset="-78"/>
              </a:rPr>
              <a:t>داده‌اند</a:t>
            </a:r>
            <a:r>
              <a:rPr lang="fa-IR" i="0" dirty="0">
                <a:effectLst/>
                <a:latin typeface="IRNazanin" panose="02000506000000020002" pitchFamily="2" charset="-78"/>
                <a:cs typeface="IRNazanin" panose="02000506000000020002" pitchFamily="2" charset="-78"/>
              </a:rPr>
              <a:t> که استفاده از </a:t>
            </a:r>
            <a:r>
              <a:rPr lang="fa-IR" i="0" dirty="0" err="1">
                <a:effectLst/>
                <a:latin typeface="IRNazanin" panose="02000506000000020002" pitchFamily="2" charset="-78"/>
                <a:cs typeface="IRNazanin" panose="02000506000000020002" pitchFamily="2" charset="-78"/>
              </a:rPr>
              <a:t>STgram</a:t>
            </a:r>
            <a:r>
              <a:rPr lang="fa-IR" i="0" dirty="0">
                <a:effectLst/>
                <a:latin typeface="IRNazanin" panose="02000506000000020002" pitchFamily="2" charset="-78"/>
                <a:cs typeface="IRNazanin" panose="02000506000000020002" pitchFamily="2" charset="-78"/>
              </a:rPr>
              <a:t> همراه با </a:t>
            </a:r>
            <a:r>
              <a:rPr lang="fa-IR" i="0" dirty="0" err="1">
                <a:effectLst/>
                <a:latin typeface="IRNazanin" panose="02000506000000020002" pitchFamily="2" charset="-78"/>
                <a:cs typeface="IRNazanin" panose="02000506000000020002" pitchFamily="2" charset="-78"/>
              </a:rPr>
              <a:t>معماری‌های</a:t>
            </a:r>
            <a:r>
              <a:rPr lang="fa-IR" i="0" dirty="0">
                <a:effectLst/>
                <a:latin typeface="IRNazanin" panose="02000506000000020002" pitchFamily="2" charset="-78"/>
                <a:cs typeface="IRNazanin" panose="02000506000000020002" pitchFamily="2" charset="-78"/>
              </a:rPr>
              <a:t> سبک عملکرد مدل را </a:t>
            </a:r>
            <a:r>
              <a:rPr lang="fa-IR" i="0" dirty="0" err="1">
                <a:effectLst/>
                <a:latin typeface="IRNazanin" panose="02000506000000020002" pitchFamily="2" charset="-78"/>
                <a:cs typeface="IRNazanin" panose="02000506000000020002" pitchFamily="2" charset="-78"/>
              </a:rPr>
              <a:t>به‌طور</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معنی‌داری</a:t>
            </a:r>
            <a:r>
              <a:rPr lang="fa-IR" i="0" dirty="0">
                <a:effectLst/>
                <a:latin typeface="IRNazanin" panose="02000506000000020002" pitchFamily="2" charset="-78"/>
                <a:cs typeface="IRNazanin" panose="02000506000000020002" pitchFamily="2" charset="-78"/>
              </a:rPr>
              <a:t> نسبت به </a:t>
            </a:r>
            <a:r>
              <a:rPr lang="fa-IR" i="0" dirty="0" err="1">
                <a:effectLst/>
                <a:latin typeface="IRNazanin" panose="02000506000000020002" pitchFamily="2" charset="-78"/>
                <a:cs typeface="IRNazanin" panose="02000506000000020002" pitchFamily="2" charset="-78"/>
              </a:rPr>
              <a:t>روش‌های</a:t>
            </a:r>
            <a:r>
              <a:rPr lang="fa-IR" i="0" dirty="0">
                <a:effectLst/>
                <a:latin typeface="IRNazanin" panose="02000506000000020002" pitchFamily="2" charset="-78"/>
                <a:cs typeface="IRNazanin" panose="02000506000000020002" pitchFamily="2" charset="-78"/>
              </a:rPr>
              <a:t> صرفاً </a:t>
            </a:r>
            <a:r>
              <a:rPr lang="fa-IR" i="0" dirty="0" err="1">
                <a:effectLst/>
                <a:latin typeface="IRNazanin" panose="02000506000000020002" pitchFamily="2" charset="-78"/>
                <a:cs typeface="IRNazanin" panose="02000506000000020002" pitchFamily="2" charset="-78"/>
              </a:rPr>
              <a:t>طیفی</a:t>
            </a:r>
            <a:r>
              <a:rPr lang="fa-IR" i="0" dirty="0">
                <a:effectLst/>
                <a:latin typeface="IRNazanin" panose="02000506000000020002" pitchFamily="2" charset="-78"/>
                <a:cs typeface="IRNazanin" panose="02000506000000020002" pitchFamily="2" charset="-78"/>
              </a:rPr>
              <a:t> افزایش </a:t>
            </a:r>
            <a:r>
              <a:rPr lang="fa-IR" i="0" dirty="0" err="1">
                <a:effectLst/>
                <a:latin typeface="IRNazanin" panose="02000506000000020002" pitchFamily="2" charset="-78"/>
                <a:cs typeface="IRNazanin" panose="02000506000000020002" pitchFamily="2" charset="-78"/>
              </a:rPr>
              <a:t>می‌دهد</a:t>
            </a:r>
            <a:r>
              <a:rPr lang="fa-IR" i="0" dirty="0">
                <a:effectLst/>
                <a:latin typeface="IRNazanin" panose="02000506000000020002" pitchFamily="2" charset="-78"/>
                <a:cs typeface="IRNazanin" panose="02000506000000020002" pitchFamily="2" charset="-78"/>
              </a:rPr>
              <a:t>.</a:t>
            </a:r>
          </a:p>
          <a:p>
            <a:pPr algn="just" rtl="1"/>
            <a:r>
              <a:rPr lang="fa-IR" i="0" dirty="0">
                <a:effectLst/>
                <a:latin typeface="IRNazanin" panose="02000506000000020002" pitchFamily="2" charset="-78"/>
                <a:cs typeface="IRNazanin" panose="02000506000000020002" pitchFamily="2" charset="-78"/>
              </a:rPr>
              <a:t>در زمینه انتخاب معماری شبکه، </a:t>
            </a:r>
            <a:r>
              <a:rPr lang="fa-IR" i="0" dirty="0" err="1">
                <a:effectLst/>
                <a:latin typeface="IRNazanin" panose="02000506000000020002" pitchFamily="2" charset="-78"/>
                <a:cs typeface="IRNazanin" panose="02000506000000020002" pitchFamily="2" charset="-78"/>
              </a:rPr>
              <a:t>پژوهش‌ها</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به‌سمت</a:t>
            </a:r>
            <a:r>
              <a:rPr lang="fa-IR" i="0" dirty="0">
                <a:effectLst/>
                <a:latin typeface="IRNazanin" panose="02000506000000020002" pitchFamily="2" charset="-78"/>
                <a:cs typeface="IRNazanin" panose="02000506000000020002" pitchFamily="2" charset="-78"/>
              </a:rPr>
              <a:t> استفاده از </a:t>
            </a:r>
            <a:r>
              <a:rPr lang="fa-IR" i="0" dirty="0" err="1">
                <a:effectLst/>
                <a:latin typeface="IRNazanin" panose="02000506000000020002" pitchFamily="2" charset="-78"/>
                <a:cs typeface="IRNazanin" panose="02000506000000020002" pitchFamily="2" charset="-78"/>
              </a:rPr>
              <a:t>مدل‌های</a:t>
            </a:r>
            <a:r>
              <a:rPr lang="fa-IR" i="0" dirty="0">
                <a:effectLst/>
                <a:latin typeface="IRNazanin" panose="02000506000000020002" pitchFamily="2" charset="-78"/>
                <a:cs typeface="IRNazanin" panose="02000506000000020002" pitchFamily="2" charset="-78"/>
              </a:rPr>
              <a:t> سبک و </a:t>
            </a:r>
            <a:r>
              <a:rPr lang="fa-IR" i="0" dirty="0" err="1">
                <a:effectLst/>
                <a:latin typeface="IRNazanin" panose="02000506000000020002" pitchFamily="2" charset="-78"/>
                <a:cs typeface="IRNazanin" panose="02000506000000020002" pitchFamily="2" charset="-78"/>
              </a:rPr>
              <a:t>کم‌پارامتر</a:t>
            </a:r>
            <a:r>
              <a:rPr lang="fa-IR" i="0" dirty="0">
                <a:effectLst/>
                <a:latin typeface="IRNazanin" panose="02000506000000020002" pitchFamily="2" charset="-78"/>
                <a:cs typeface="IRNazanin" panose="02000506000000020002" pitchFamily="2" charset="-78"/>
              </a:rPr>
              <a:t> مانند </a:t>
            </a:r>
            <a:r>
              <a:rPr lang="fa-IR" i="0" dirty="0" err="1">
                <a:effectLst/>
                <a:latin typeface="IRNazanin" panose="02000506000000020002" pitchFamily="2" charset="-78"/>
                <a:cs typeface="IRNazanin" panose="02000506000000020002" pitchFamily="2" charset="-78"/>
              </a:rPr>
              <a:t>MobileFaceNet</a:t>
            </a:r>
            <a:r>
              <a:rPr lang="fa-IR" i="0" dirty="0">
                <a:effectLst/>
                <a:latin typeface="IRNazanin" panose="02000506000000020002" pitchFamily="2" charset="-78"/>
                <a:cs typeface="IRNazanin" panose="02000506000000020002" pitchFamily="2" charset="-78"/>
              </a:rPr>
              <a:t> حرکت </a:t>
            </a:r>
            <a:r>
              <a:rPr lang="fa-IR" i="0" dirty="0" err="1">
                <a:effectLst/>
                <a:latin typeface="IRNazanin" panose="02000506000000020002" pitchFamily="2" charset="-78"/>
                <a:cs typeface="IRNazanin" panose="02000506000000020002" pitchFamily="2" charset="-78"/>
              </a:rPr>
              <a:t>کرده‌اند</a:t>
            </a:r>
            <a:r>
              <a:rPr lang="fa-IR" dirty="0">
                <a:latin typeface="IRNazanin" panose="02000506000000020002" pitchFamily="2" charset="-78"/>
                <a:cs typeface="IRNazanin" panose="02000506000000020002" pitchFamily="2" charset="-78"/>
              </a:rPr>
              <a:t>.</a:t>
            </a:r>
            <a:r>
              <a:rPr lang="fa-IR" i="0" dirty="0">
                <a:effectLst/>
                <a:latin typeface="IRNazanin" panose="02000506000000020002" pitchFamily="2" charset="-78"/>
                <a:cs typeface="IRNazanin" panose="02000506000000020002" pitchFamily="2" charset="-78"/>
              </a:rPr>
              <a:t> زیرا این </a:t>
            </a:r>
            <a:r>
              <a:rPr lang="fa-IR" i="0" dirty="0" err="1">
                <a:effectLst/>
                <a:latin typeface="IRNazanin" panose="02000506000000020002" pitchFamily="2" charset="-78"/>
                <a:cs typeface="IRNazanin" panose="02000506000000020002" pitchFamily="2" charset="-78"/>
              </a:rPr>
              <a:t>شبکه‌ها</a:t>
            </a:r>
            <a:r>
              <a:rPr lang="fa-IR" i="0" dirty="0">
                <a:effectLst/>
                <a:latin typeface="IRNazanin" panose="02000506000000020002" pitchFamily="2" charset="-78"/>
                <a:cs typeface="IRNazanin" panose="02000506000000020002" pitchFamily="2" charset="-78"/>
              </a:rPr>
              <a:t> علاوه بر دقت مناسب، امکان استقرار در </a:t>
            </a:r>
            <a:r>
              <a:rPr lang="fa-IR" i="0" dirty="0" err="1">
                <a:effectLst/>
                <a:latin typeface="IRNazanin" panose="02000506000000020002" pitchFamily="2" charset="-78"/>
                <a:cs typeface="IRNazanin" panose="02000506000000020002" pitchFamily="2" charset="-78"/>
              </a:rPr>
              <a:t>سامانه‌های</a:t>
            </a:r>
            <a:r>
              <a:rPr lang="fa-IR" i="0" dirty="0">
                <a:effectLst/>
                <a:latin typeface="IRNazanin" panose="02000506000000020002" pitchFamily="2" charset="-78"/>
                <a:cs typeface="IRNazanin" panose="02000506000000020002" pitchFamily="2" charset="-78"/>
              </a:rPr>
              <a:t> واقعی را فراهم </a:t>
            </a:r>
            <a:r>
              <a:rPr lang="fa-IR" i="0" dirty="0" err="1">
                <a:effectLst/>
                <a:latin typeface="IRNazanin" panose="02000506000000020002" pitchFamily="2" charset="-78"/>
                <a:cs typeface="IRNazanin" panose="02000506000000020002" pitchFamily="2" charset="-78"/>
              </a:rPr>
              <a:t>می‌کنند</a:t>
            </a:r>
            <a:r>
              <a:rPr lang="fa-IR" i="0" dirty="0">
                <a:effectLst/>
                <a:latin typeface="IRNazanin" panose="02000506000000020002" pitchFamily="2" charset="-78"/>
                <a:cs typeface="IRNazanin" panose="02000506000000020002" pitchFamily="2" charset="-78"/>
              </a:rPr>
              <a:t>. این روند </a:t>
            </a:r>
            <a:r>
              <a:rPr lang="fa-IR" i="0" dirty="0" err="1">
                <a:effectLst/>
                <a:latin typeface="IRNazanin" panose="02000506000000020002" pitchFamily="2" charset="-78"/>
                <a:cs typeface="IRNazanin" panose="02000506000000020002" pitchFamily="2" charset="-78"/>
              </a:rPr>
              <a:t>به‌خصوص</a:t>
            </a:r>
            <a:r>
              <a:rPr lang="fa-IR" i="0" dirty="0">
                <a:effectLst/>
                <a:latin typeface="IRNazanin" panose="02000506000000020002" pitchFamily="2" charset="-78"/>
                <a:cs typeface="IRNazanin" panose="02000506000000020002" pitchFamily="2" charset="-78"/>
              </a:rPr>
              <a:t> در </a:t>
            </a:r>
            <a:r>
              <a:rPr lang="fa-IR" i="0" dirty="0" err="1">
                <a:effectLst/>
                <a:latin typeface="IRNazanin" panose="02000506000000020002" pitchFamily="2" charset="-78"/>
                <a:cs typeface="IRNazanin" panose="02000506000000020002" pitchFamily="2" charset="-78"/>
              </a:rPr>
              <a:t>سیستم‌های</a:t>
            </a:r>
            <a:r>
              <a:rPr lang="fa-IR" i="0" dirty="0">
                <a:effectLst/>
                <a:latin typeface="IRNazanin" panose="02000506000000020002" pitchFamily="2" charset="-78"/>
                <a:cs typeface="IRNazanin" panose="02000506000000020002" pitchFamily="2" charset="-78"/>
              </a:rPr>
              <a:t> پایش امنیتی اهمیت دارد، زیرا چنین </a:t>
            </a:r>
            <a:r>
              <a:rPr lang="fa-IR" i="0" dirty="0" err="1">
                <a:effectLst/>
                <a:latin typeface="IRNazanin" panose="02000506000000020002" pitchFamily="2" charset="-78"/>
                <a:cs typeface="IRNazanin" panose="02000506000000020002" pitchFamily="2" charset="-78"/>
              </a:rPr>
              <a:t>سامانه‌هایی</a:t>
            </a:r>
            <a:r>
              <a:rPr lang="fa-IR" i="0" dirty="0">
                <a:effectLst/>
                <a:latin typeface="IRNazanin" panose="02000506000000020002" pitchFamily="2" charset="-78"/>
                <a:cs typeface="IRNazanin" panose="02000506000000020002" pitchFamily="2" charset="-78"/>
              </a:rPr>
              <a:t> باید در لحظه و با حداقل منابع </a:t>
            </a:r>
            <a:r>
              <a:rPr lang="fa-IR" i="0" dirty="0" err="1">
                <a:effectLst/>
                <a:latin typeface="IRNazanin" panose="02000506000000020002" pitchFamily="2" charset="-78"/>
                <a:cs typeface="IRNazanin" panose="02000506000000020002" pitchFamily="2" charset="-78"/>
              </a:rPr>
              <a:t>پردازشی</a:t>
            </a:r>
            <a:r>
              <a:rPr lang="fa-IR" i="0" dirty="0">
                <a:effectLst/>
                <a:latin typeface="IRNazanin" panose="02000506000000020002" pitchFamily="2" charset="-78"/>
                <a:cs typeface="IRNazanin" panose="02000506000000020002" pitchFamily="2" charset="-78"/>
              </a:rPr>
              <a:t> عملکرد </a:t>
            </a:r>
            <a:r>
              <a:rPr lang="fa-IR" i="0" dirty="0" err="1">
                <a:effectLst/>
                <a:latin typeface="IRNazanin" panose="02000506000000020002" pitchFamily="2" charset="-78"/>
                <a:cs typeface="IRNazanin" panose="02000506000000020002" pitchFamily="2" charset="-78"/>
              </a:rPr>
              <a:t>قابل‌اعتمادی</a:t>
            </a:r>
            <a:r>
              <a:rPr lang="fa-IR" i="0" dirty="0">
                <a:effectLst/>
                <a:latin typeface="IRNazanin" panose="02000506000000020002" pitchFamily="2" charset="-78"/>
                <a:cs typeface="IRNazanin" panose="02000506000000020002" pitchFamily="2" charset="-78"/>
              </a:rPr>
              <a:t> ارائه دهند. ترکیب </a:t>
            </a:r>
            <a:r>
              <a:rPr lang="fa-IR" i="0" dirty="0" err="1">
                <a:effectLst/>
                <a:latin typeface="IRNazanin" panose="02000506000000020002" pitchFamily="2" charset="-78"/>
                <a:cs typeface="IRNazanin" panose="02000506000000020002" pitchFamily="2" charset="-78"/>
              </a:rPr>
              <a:t>معماری‌های</a:t>
            </a:r>
            <a:r>
              <a:rPr lang="fa-IR" i="0" dirty="0">
                <a:effectLst/>
                <a:latin typeface="IRNazanin" panose="02000506000000020002" pitchFamily="2" charset="-78"/>
                <a:cs typeface="IRNazanin" panose="02000506000000020002" pitchFamily="2" charset="-78"/>
              </a:rPr>
              <a:t> سبک با </a:t>
            </a:r>
            <a:r>
              <a:rPr lang="fa-IR" i="0" dirty="0" err="1">
                <a:effectLst/>
                <a:latin typeface="IRNazanin" panose="02000506000000020002" pitchFamily="2" charset="-78"/>
                <a:cs typeface="IRNazanin" panose="02000506000000020002" pitchFamily="2" charset="-78"/>
              </a:rPr>
              <a:t>نمایش‌های</a:t>
            </a:r>
            <a:r>
              <a:rPr lang="fa-IR" i="0" dirty="0">
                <a:effectLst/>
                <a:latin typeface="IRNazanin" panose="02000506000000020002" pitchFamily="2" charset="-78"/>
                <a:cs typeface="IRNazanin" panose="02000506000000020002" pitchFamily="2" charset="-78"/>
              </a:rPr>
              <a:t> تلفیقی زمان–فرکانس مسیر جدیدی در طراحی </a:t>
            </a:r>
            <a:r>
              <a:rPr lang="fa-IR" i="0" dirty="0" err="1">
                <a:effectLst/>
                <a:latin typeface="IRNazanin" panose="02000506000000020002" pitchFamily="2" charset="-78"/>
                <a:cs typeface="IRNazanin" panose="02000506000000020002" pitchFamily="2" charset="-78"/>
              </a:rPr>
              <a:t>مدل‌های</a:t>
            </a:r>
            <a:r>
              <a:rPr lang="fa-IR" i="0" dirty="0">
                <a:effectLst/>
                <a:latin typeface="IRNazanin" panose="02000506000000020002" pitchFamily="2" charset="-78"/>
                <a:cs typeface="IRNazanin" panose="02000506000000020002" pitchFamily="2" charset="-78"/>
              </a:rPr>
              <a:t> تشخیص رخدادهای صوتی ایجاد کرده است.</a:t>
            </a:r>
          </a:p>
          <a:p>
            <a:pPr algn="just" rtl="1"/>
            <a:r>
              <a:rPr lang="fa-IR" i="0" dirty="0">
                <a:effectLst/>
                <a:latin typeface="IRNazanin" panose="02000506000000020002" pitchFamily="2" charset="-78"/>
                <a:cs typeface="IRNazanin" panose="02000506000000020002" pitchFamily="2" charset="-78"/>
              </a:rPr>
              <a:t>در بخش کارهای مرتبط، </a:t>
            </a:r>
            <a:r>
              <a:rPr lang="fa-IR" i="0" dirty="0" err="1">
                <a:effectLst/>
                <a:latin typeface="IRNazanin" panose="02000506000000020002" pitchFamily="2" charset="-78"/>
                <a:cs typeface="IRNazanin" panose="02000506000000020002" pitchFamily="2" charset="-78"/>
              </a:rPr>
              <a:t>پژوهش‌های</a:t>
            </a:r>
            <a:r>
              <a:rPr lang="fa-IR" i="0" dirty="0">
                <a:effectLst/>
                <a:latin typeface="IRNazanin" panose="02000506000000020002" pitchFamily="2" charset="-78"/>
                <a:cs typeface="IRNazanin" panose="02000506000000020002" pitchFamily="2" charset="-78"/>
              </a:rPr>
              <a:t> مختلفی در </a:t>
            </a:r>
            <a:r>
              <a:rPr lang="fa-IR" i="0" dirty="0" err="1">
                <a:effectLst/>
                <a:latin typeface="IRNazanin" panose="02000506000000020002" pitchFamily="2" charset="-78"/>
                <a:cs typeface="IRNazanin" panose="02000506000000020002" pitchFamily="2" charset="-78"/>
              </a:rPr>
              <a:t>سال‌های</a:t>
            </a:r>
            <a:r>
              <a:rPr lang="fa-IR" i="0" dirty="0">
                <a:effectLst/>
                <a:latin typeface="IRNazanin" panose="02000506000000020002" pitchFamily="2" charset="-78"/>
                <a:cs typeface="IRNazanin" panose="02000506000000020002" pitchFamily="2" charset="-78"/>
              </a:rPr>
              <a:t> اخیر به بررسی ترکیب نماهای صوتی و </a:t>
            </a:r>
            <a:r>
              <a:rPr lang="fa-IR" i="0" dirty="0" err="1">
                <a:effectLst/>
                <a:latin typeface="IRNazanin" panose="02000506000000020002" pitchFamily="2" charset="-78"/>
                <a:cs typeface="IRNazanin" panose="02000506000000020002" pitchFamily="2" charset="-78"/>
              </a:rPr>
              <a:t>معماری‌های</a:t>
            </a:r>
            <a:r>
              <a:rPr lang="fa-IR" i="0" dirty="0">
                <a:effectLst/>
                <a:latin typeface="IRNazanin" panose="02000506000000020002" pitchFamily="2" charset="-78"/>
                <a:cs typeface="IRNazanin" panose="02000506000000020002" pitchFamily="2" charset="-78"/>
              </a:rPr>
              <a:t> عمیق </a:t>
            </a:r>
            <a:r>
              <a:rPr lang="fa-IR" i="0" dirty="0" err="1">
                <a:effectLst/>
                <a:latin typeface="IRNazanin" panose="02000506000000020002" pitchFamily="2" charset="-78"/>
                <a:cs typeface="IRNazanin" panose="02000506000000020002" pitchFamily="2" charset="-78"/>
              </a:rPr>
              <a:t>پرداخته‌اند</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مدل‌های</a:t>
            </a:r>
            <a:r>
              <a:rPr lang="fa-IR" i="0" dirty="0">
                <a:effectLst/>
                <a:latin typeface="IRNazanin" panose="02000506000000020002" pitchFamily="2" charset="-78"/>
                <a:cs typeface="IRNazanin" panose="02000506000000020002" pitchFamily="2" charset="-78"/>
              </a:rPr>
              <a:t> CNN‑RNN مبتنی بر </a:t>
            </a:r>
            <a:r>
              <a:rPr lang="fa-IR" i="0" dirty="0" err="1">
                <a:effectLst/>
                <a:latin typeface="IRNazanin" panose="02000506000000020002" pitchFamily="2" charset="-78"/>
                <a:cs typeface="IRNazanin" panose="02000506000000020002" pitchFamily="2" charset="-78"/>
              </a:rPr>
              <a:t>Log‑Mel</a:t>
            </a:r>
            <a:r>
              <a:rPr lang="fa-IR" i="0" dirty="0">
                <a:effectLst/>
                <a:latin typeface="IRNazanin" panose="02000506000000020002" pitchFamily="2" charset="-78"/>
                <a:cs typeface="IRNazanin" panose="02000506000000020002" pitchFamily="2" charset="-78"/>
              </a:rPr>
              <a:t> برای تشخیص رخدادهای نادر، </a:t>
            </a:r>
            <a:r>
              <a:rPr lang="fa-IR" i="0" dirty="0" err="1">
                <a:effectLst/>
                <a:latin typeface="IRNazanin" panose="02000506000000020002" pitchFamily="2" charset="-78"/>
                <a:cs typeface="IRNazanin" panose="02000506000000020002" pitchFamily="2" charset="-78"/>
              </a:rPr>
              <a:t>روش‌های</a:t>
            </a:r>
            <a:r>
              <a:rPr lang="fa-IR" i="0" dirty="0">
                <a:effectLst/>
                <a:latin typeface="IRNazanin" panose="02000506000000020002" pitchFamily="2" charset="-78"/>
                <a:cs typeface="IRNazanin" panose="02000506000000020002" pitchFamily="2" charset="-78"/>
              </a:rPr>
              <a:t> مبتنی بر توجه برای تمرکز بر </a:t>
            </a:r>
            <a:r>
              <a:rPr lang="fa-IR" i="0" dirty="0" err="1">
                <a:effectLst/>
                <a:latin typeface="IRNazanin" panose="02000506000000020002" pitchFamily="2" charset="-78"/>
                <a:cs typeface="IRNazanin" panose="02000506000000020002" pitchFamily="2" charset="-78"/>
              </a:rPr>
              <a:t>بخش‌های</a:t>
            </a:r>
            <a:r>
              <a:rPr lang="fa-IR" i="0" dirty="0">
                <a:effectLst/>
                <a:latin typeface="IRNazanin" panose="02000506000000020002" pitchFamily="2" charset="-78"/>
                <a:cs typeface="IRNazanin" panose="02000506000000020002" pitchFamily="2" charset="-78"/>
              </a:rPr>
              <a:t> مهم سیگنال، و </a:t>
            </a:r>
            <a:r>
              <a:rPr lang="fa-IR" i="0" dirty="0" err="1">
                <a:effectLst/>
                <a:latin typeface="IRNazanin" panose="02000506000000020002" pitchFamily="2" charset="-78"/>
                <a:cs typeface="IRNazanin" panose="02000506000000020002" pitchFamily="2" charset="-78"/>
              </a:rPr>
              <a:t>معماری‌های</a:t>
            </a:r>
            <a:r>
              <a:rPr lang="fa-IR" i="0" dirty="0">
                <a:effectLst/>
                <a:latin typeface="IRNazanin" panose="02000506000000020002" pitchFamily="2" charset="-78"/>
                <a:cs typeface="IRNazanin" panose="02000506000000020002" pitchFamily="2" charset="-78"/>
              </a:rPr>
              <a:t> تلفیقی مانند </a:t>
            </a:r>
            <a:r>
              <a:rPr lang="fa-IR" i="0" dirty="0" err="1">
                <a:effectLst/>
                <a:latin typeface="IRNazanin" panose="02000506000000020002" pitchFamily="2" charset="-78"/>
                <a:cs typeface="IRNazanin" panose="02000506000000020002" pitchFamily="2" charset="-78"/>
              </a:rPr>
              <a:t>STgram</a:t>
            </a:r>
            <a:r>
              <a:rPr lang="fa-IR" i="0" dirty="0">
                <a:effectLst/>
                <a:latin typeface="IRNazanin" panose="02000506000000020002" pitchFamily="2" charset="-78"/>
                <a:cs typeface="IRNazanin" panose="02000506000000020002" pitchFamily="2" charset="-78"/>
              </a:rPr>
              <a:t>‑MFN (شکل ۴) برای استخراج همزمان </a:t>
            </a:r>
            <a:r>
              <a:rPr lang="fa-IR" i="0" dirty="0" err="1">
                <a:effectLst/>
                <a:latin typeface="IRNazanin" panose="02000506000000020002" pitchFamily="2" charset="-78"/>
                <a:cs typeface="IRNazanin" panose="02000506000000020002" pitchFamily="2" charset="-78"/>
              </a:rPr>
              <a:t>ویژگی‌های</a:t>
            </a:r>
            <a:r>
              <a:rPr lang="fa-IR" i="0" dirty="0">
                <a:effectLst/>
                <a:latin typeface="IRNazanin" panose="02000506000000020002" pitchFamily="2" charset="-78"/>
                <a:cs typeface="IRNazanin" panose="02000506000000020002" pitchFamily="2" charset="-78"/>
              </a:rPr>
              <a:t> زمانی و </a:t>
            </a:r>
            <a:r>
              <a:rPr lang="fa-IR" i="0" dirty="0" err="1">
                <a:effectLst/>
                <a:latin typeface="IRNazanin" panose="02000506000000020002" pitchFamily="2" charset="-78"/>
                <a:cs typeface="IRNazanin" panose="02000506000000020002" pitchFamily="2" charset="-78"/>
              </a:rPr>
              <a:t>طیفی</a:t>
            </a:r>
            <a:r>
              <a:rPr lang="fa-IR" i="0" dirty="0">
                <a:effectLst/>
                <a:latin typeface="IRNazanin" panose="02000506000000020002" pitchFamily="2" charset="-78"/>
                <a:cs typeface="IRNazanin" panose="02000506000000020002" pitchFamily="2" charset="-78"/>
              </a:rPr>
              <a:t> از </a:t>
            </a:r>
            <a:r>
              <a:rPr lang="fa-IR" i="0" dirty="0" err="1">
                <a:effectLst/>
                <a:latin typeface="IRNazanin" panose="02000506000000020002" pitchFamily="2" charset="-78"/>
                <a:cs typeface="IRNazanin" panose="02000506000000020002" pitchFamily="2" charset="-78"/>
              </a:rPr>
              <a:t>مهم‌ترین</a:t>
            </a:r>
            <a:r>
              <a:rPr lang="fa-IR" i="0" dirty="0">
                <a:effectLst/>
                <a:latin typeface="IRNazanin" panose="02000506000000020002" pitchFamily="2" charset="-78"/>
                <a:cs typeface="IRNazanin" panose="02000506000000020002" pitchFamily="2" charset="-78"/>
              </a:rPr>
              <a:t> این </a:t>
            </a:r>
            <a:r>
              <a:rPr lang="fa-IR" i="0" dirty="0" err="1">
                <a:effectLst/>
                <a:latin typeface="IRNazanin" panose="02000506000000020002" pitchFamily="2" charset="-78"/>
                <a:cs typeface="IRNazanin" panose="02000506000000020002" pitchFamily="2" charset="-78"/>
              </a:rPr>
              <a:t>رویکردها</a:t>
            </a:r>
            <a:r>
              <a:rPr lang="fa-IR" i="0" dirty="0">
                <a:effectLst/>
                <a:latin typeface="IRNazanin" panose="02000506000000020002" pitchFamily="2" charset="-78"/>
                <a:cs typeface="IRNazanin" panose="02000506000000020002" pitchFamily="2" charset="-78"/>
              </a:rPr>
              <a:t> هستند. نتایج این مطالعات نشان </a:t>
            </a:r>
            <a:r>
              <a:rPr lang="fa-IR" i="0" dirty="0" err="1">
                <a:effectLst/>
                <a:latin typeface="IRNazanin" panose="02000506000000020002" pitchFamily="2" charset="-78"/>
                <a:cs typeface="IRNazanin" panose="02000506000000020002" pitchFamily="2" charset="-78"/>
              </a:rPr>
              <a:t>می‌دهد</a:t>
            </a:r>
            <a:r>
              <a:rPr lang="fa-IR" i="0" dirty="0">
                <a:effectLst/>
                <a:latin typeface="IRNazanin" panose="02000506000000020002" pitchFamily="2" charset="-78"/>
                <a:cs typeface="IRNazanin" panose="02000506000000020002" pitchFamily="2" charset="-78"/>
              </a:rPr>
              <a:t> که استفاده از چندین نمای صوتی </a:t>
            </a:r>
            <a:r>
              <a:rPr lang="fa-IR" i="0" dirty="0" err="1">
                <a:effectLst/>
                <a:latin typeface="IRNazanin" panose="02000506000000020002" pitchFamily="2" charset="-78"/>
                <a:cs typeface="IRNazanin" panose="02000506000000020002" pitchFamily="2" charset="-78"/>
              </a:rPr>
              <a:t>به‌صورت</a:t>
            </a:r>
            <a:r>
              <a:rPr lang="fa-IR" i="0" dirty="0">
                <a:effectLst/>
                <a:latin typeface="IRNazanin" panose="02000506000000020002" pitchFamily="2" charset="-78"/>
                <a:cs typeface="IRNazanin" panose="02000506000000020002" pitchFamily="2" charset="-78"/>
              </a:rPr>
              <a:t> همزمان، </a:t>
            </a:r>
            <a:r>
              <a:rPr lang="fa-IR" i="0" dirty="0" err="1">
                <a:effectLst/>
                <a:latin typeface="IRNazanin" panose="02000506000000020002" pitchFamily="2" charset="-78"/>
                <a:cs typeface="IRNazanin" panose="02000506000000020002" pitchFamily="2" charset="-78"/>
              </a:rPr>
              <a:t>به‌ویژه</a:t>
            </a:r>
            <a:r>
              <a:rPr lang="fa-IR" i="0" dirty="0">
                <a:effectLst/>
                <a:latin typeface="IRNazanin" panose="02000506000000020002" pitchFamily="2" charset="-78"/>
                <a:cs typeface="IRNazanin" panose="02000506000000020002" pitchFamily="2" charset="-78"/>
              </a:rPr>
              <a:t> در </a:t>
            </a:r>
            <a:r>
              <a:rPr lang="fa-IR" i="0" dirty="0" err="1">
                <a:effectLst/>
                <a:latin typeface="IRNazanin" panose="02000506000000020002" pitchFamily="2" charset="-78"/>
                <a:cs typeface="IRNazanin" panose="02000506000000020002" pitchFamily="2" charset="-78"/>
              </a:rPr>
              <a:t>مجموعه‌داده‌های</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نامتوازن</a:t>
            </a:r>
            <a:r>
              <a:rPr lang="fa-IR" i="0" dirty="0">
                <a:effectLst/>
                <a:latin typeface="IRNazanin" panose="02000506000000020002" pitchFamily="2" charset="-78"/>
                <a:cs typeface="IRNazanin" panose="02000506000000020002" pitchFamily="2" charset="-78"/>
              </a:rPr>
              <a:t> و دارای </a:t>
            </a:r>
            <a:r>
              <a:rPr lang="fa-IR" i="0" dirty="0" err="1">
                <a:effectLst/>
                <a:latin typeface="IRNazanin" panose="02000506000000020002" pitchFamily="2" charset="-78"/>
                <a:cs typeface="IRNazanin" panose="02000506000000020002" pitchFamily="2" charset="-78"/>
              </a:rPr>
              <a:t>نویز</a:t>
            </a:r>
            <a:r>
              <a:rPr lang="fa-IR" i="0" dirty="0">
                <a:effectLst/>
                <a:latin typeface="IRNazanin" panose="02000506000000020002" pitchFamily="2" charset="-78"/>
                <a:cs typeface="IRNazanin" panose="02000506000000020002" pitchFamily="2" charset="-78"/>
              </a:rPr>
              <a:t>، دقت و پایداری سیستم را نسبت به </a:t>
            </a:r>
            <a:r>
              <a:rPr lang="fa-IR" i="0" dirty="0" err="1">
                <a:effectLst/>
                <a:latin typeface="IRNazanin" panose="02000506000000020002" pitchFamily="2" charset="-78"/>
                <a:cs typeface="IRNazanin" panose="02000506000000020002" pitchFamily="2" charset="-78"/>
              </a:rPr>
              <a:t>روش‌های</a:t>
            </a:r>
            <a:r>
              <a:rPr lang="fa-IR" i="0" dirty="0">
                <a:effectLst/>
                <a:latin typeface="IRNazanin" panose="02000506000000020002" pitchFamily="2" charset="-78"/>
                <a:cs typeface="IRNazanin" panose="02000506000000020002" pitchFamily="2" charset="-78"/>
              </a:rPr>
              <a:t> پایه </a:t>
            </a:r>
            <a:r>
              <a:rPr lang="fa-IR" i="0" dirty="0" err="1">
                <a:effectLst/>
                <a:latin typeface="IRNazanin" panose="02000506000000020002" pitchFamily="2" charset="-78"/>
                <a:cs typeface="IRNazanin" panose="02000506000000020002" pitchFamily="2" charset="-78"/>
              </a:rPr>
              <a:t>به‌طور</a:t>
            </a:r>
            <a:r>
              <a:rPr lang="fa-IR" i="0" dirty="0">
                <a:effectLst/>
                <a:latin typeface="IRNazanin" panose="02000506000000020002" pitchFamily="2" charset="-78"/>
                <a:cs typeface="IRNazanin" panose="02000506000000020002" pitchFamily="2" charset="-78"/>
              </a:rPr>
              <a:t> </a:t>
            </a:r>
            <a:r>
              <a:rPr lang="fa-IR" i="0" dirty="0" err="1">
                <a:effectLst/>
                <a:latin typeface="IRNazanin" panose="02000506000000020002" pitchFamily="2" charset="-78"/>
                <a:cs typeface="IRNazanin" panose="02000506000000020002" pitchFamily="2" charset="-78"/>
              </a:rPr>
              <a:t>قابل‌توجهی</a:t>
            </a:r>
            <a:r>
              <a:rPr lang="fa-IR" i="0" dirty="0">
                <a:effectLst/>
                <a:latin typeface="IRNazanin" panose="02000506000000020002" pitchFamily="2" charset="-78"/>
                <a:cs typeface="IRNazanin" panose="02000506000000020002" pitchFamily="2" charset="-78"/>
              </a:rPr>
              <a:t> افزایش </a:t>
            </a:r>
            <a:r>
              <a:rPr lang="fa-IR" i="0" dirty="0" err="1">
                <a:effectLst/>
                <a:latin typeface="IRNazanin" panose="02000506000000020002" pitchFamily="2" charset="-78"/>
                <a:cs typeface="IRNazanin" panose="02000506000000020002" pitchFamily="2" charset="-78"/>
              </a:rPr>
              <a:t>می‌دهد</a:t>
            </a:r>
            <a:r>
              <a:rPr lang="fa-IR" i="0" dirty="0">
                <a:effectLst/>
                <a:latin typeface="IRNazanin" panose="02000506000000020002" pitchFamily="2" charset="-78"/>
                <a:cs typeface="IRNazanin" panose="02000506000000020002" pitchFamily="2" charset="-78"/>
              </a:rPr>
              <a:t>.</a:t>
            </a:r>
          </a:p>
          <a:p>
            <a:pPr algn="just"/>
            <a:endParaRPr lang="en-US" dirty="0">
              <a:latin typeface="IRNazanin" panose="02000506000000020002" pitchFamily="2" charset="-78"/>
              <a:cs typeface="IRNazanin" panose="02000506000000020002" pitchFamily="2" charset="-78"/>
            </a:endParaRPr>
          </a:p>
        </p:txBody>
      </p:sp>
      <p:sp>
        <p:nvSpPr>
          <p:cNvPr id="48" name="Text Placeholder 47">
            <a:extLst>
              <a:ext uri="{FF2B5EF4-FFF2-40B4-BE49-F238E27FC236}">
                <a16:creationId xmlns:a16="http://schemas.microsoft.com/office/drawing/2014/main" id="{D9ACE7F3-786B-479F-9AE3-6EE0E70AA5CD}"/>
              </a:ext>
            </a:extLst>
          </p:cNvPr>
          <p:cNvSpPr>
            <a:spLocks noGrp="1"/>
          </p:cNvSpPr>
          <p:nvPr>
            <p:ph type="body" sz="quarter" idx="150"/>
          </p:nvPr>
        </p:nvSpPr>
        <p:spPr/>
        <p:txBody>
          <a:bodyPr/>
          <a:lstStyle/>
          <a:p>
            <a:pPr marL="0" indent="0" algn="ctr" defTabSz="4388900" rtl="1" eaLnBrk="1" latinLnBrk="0" hangingPunct="1">
              <a:spcBef>
                <a:spcPct val="20000"/>
              </a:spcBef>
              <a:buFontTx/>
              <a:buNone/>
            </a:pPr>
            <a:r>
              <a:rPr lang="fa-IR" dirty="0">
                <a:latin typeface="IRNazanin" panose="02000506000000020002" pitchFamily="2" charset="-78"/>
                <a:cs typeface="IRNazanin" panose="02000506000000020002" pitchFamily="2" charset="-78"/>
              </a:rPr>
              <a:t>دکتر یاسر شکفته</a:t>
            </a:r>
            <a:endParaRPr lang="en-US" dirty="0">
              <a:latin typeface="IRNazanin" panose="02000506000000020002" pitchFamily="2" charset="-78"/>
              <a:cs typeface="IRNazanin" panose="02000506000000020002" pitchFamily="2" charset="-78"/>
            </a:endParaRPr>
          </a:p>
        </p:txBody>
      </p:sp>
      <p:sp>
        <p:nvSpPr>
          <p:cNvPr id="49" name="Text Placeholder 48">
            <a:extLst>
              <a:ext uri="{FF2B5EF4-FFF2-40B4-BE49-F238E27FC236}">
                <a16:creationId xmlns:a16="http://schemas.microsoft.com/office/drawing/2014/main" id="{98D702CC-3296-429C-A7DA-FACBCDC336FC}"/>
              </a:ext>
            </a:extLst>
          </p:cNvPr>
          <p:cNvSpPr>
            <a:spLocks noGrp="1"/>
          </p:cNvSpPr>
          <p:nvPr>
            <p:ph type="body" sz="quarter" idx="151"/>
          </p:nvPr>
        </p:nvSpPr>
        <p:spPr/>
        <p:txBody>
          <a:bodyPr>
            <a:normAutofit lnSpcReduction="10000"/>
          </a:bodyPr>
          <a:lstStyle/>
          <a:p>
            <a:r>
              <a:rPr lang="en-US" dirty="0" err="1">
                <a:latin typeface="IRNazanin" panose="02000506000000020002" pitchFamily="2" charset="-78"/>
                <a:cs typeface="IRNazanin" panose="02000506000000020002" pitchFamily="2" charset="-78"/>
              </a:rPr>
              <a:t>ح</a:t>
            </a:r>
            <a:r>
              <a:rPr lang="fa-IR" dirty="0">
                <a:latin typeface="IRNazanin" panose="02000506000000020002" pitchFamily="2" charset="-78"/>
                <a:cs typeface="IRNazanin" panose="02000506000000020002" pitchFamily="2" charset="-78"/>
              </a:rPr>
              <a:t>سین صفایی</a:t>
            </a:r>
            <a:endParaRPr lang="en-US" dirty="0">
              <a:latin typeface="IRNazanin" panose="02000506000000020002" pitchFamily="2" charset="-78"/>
              <a:cs typeface="IRNazanin" panose="02000506000000020002" pitchFamily="2" charset="-78"/>
            </a:endParaRPr>
          </a:p>
        </p:txBody>
      </p:sp>
      <p:sp>
        <p:nvSpPr>
          <p:cNvPr id="50" name="Text Placeholder 49">
            <a:extLst>
              <a:ext uri="{FF2B5EF4-FFF2-40B4-BE49-F238E27FC236}">
                <a16:creationId xmlns:a16="http://schemas.microsoft.com/office/drawing/2014/main" id="{72746834-A4EE-45E3-9B02-C6F4ACE4C402}"/>
              </a:ext>
            </a:extLst>
          </p:cNvPr>
          <p:cNvSpPr>
            <a:spLocks noGrp="1"/>
          </p:cNvSpPr>
          <p:nvPr>
            <p:ph type="body" sz="quarter" idx="153"/>
          </p:nvPr>
        </p:nvSpPr>
        <p:spPr/>
        <p:txBody>
          <a:bodyPr/>
          <a:lstStyle/>
          <a:p>
            <a:r>
              <a:rPr lang="fa-IR" dirty="0">
                <a:latin typeface="IRNazanin" panose="02000506000000020002" pitchFamily="2" charset="-78"/>
                <a:cs typeface="IRNazanin" panose="02000506000000020002" pitchFamily="2" charset="-78"/>
              </a:rPr>
              <a:t>سامانه هوشمند تشخیص </a:t>
            </a:r>
            <a:r>
              <a:rPr lang="fa-IR" dirty="0" err="1">
                <a:latin typeface="IRNazanin" panose="02000506000000020002" pitchFamily="2" charset="-78"/>
                <a:cs typeface="IRNazanin" panose="02000506000000020002" pitchFamily="2" charset="-78"/>
              </a:rPr>
              <a:t>آنامولی</a:t>
            </a:r>
            <a:r>
              <a:rPr lang="fa-IR" dirty="0">
                <a:latin typeface="IRNazanin" panose="02000506000000020002" pitchFamily="2" charset="-78"/>
                <a:cs typeface="IRNazanin" panose="02000506000000020002" pitchFamily="2" charset="-78"/>
              </a:rPr>
              <a:t> در </a:t>
            </a:r>
            <a:r>
              <a:rPr lang="fa-IR" dirty="0" err="1">
                <a:latin typeface="IRNazanin" panose="02000506000000020002" pitchFamily="2" charset="-78"/>
                <a:cs typeface="IRNazanin" panose="02000506000000020002" pitchFamily="2" charset="-78"/>
              </a:rPr>
              <a:t>محیط‌های</a:t>
            </a:r>
            <a:r>
              <a:rPr lang="fa-IR" dirty="0">
                <a:latin typeface="IRNazanin" panose="02000506000000020002" pitchFamily="2" charset="-78"/>
                <a:cs typeface="IRNazanin" panose="02000506000000020002" pitchFamily="2" charset="-78"/>
              </a:rPr>
              <a:t> کاری و تجاری</a:t>
            </a:r>
            <a:endParaRPr lang="en-US" dirty="0">
              <a:latin typeface="IRNazanin" panose="02000506000000020002" pitchFamily="2" charset="-78"/>
              <a:cs typeface="IRNazanin" panose="02000506000000020002" pitchFamily="2" charset="-78"/>
            </a:endParaRPr>
          </a:p>
        </p:txBody>
      </p:sp>
      <p:sp>
        <p:nvSpPr>
          <p:cNvPr id="2" name="Text Placeholder 42">
            <a:extLst>
              <a:ext uri="{FF2B5EF4-FFF2-40B4-BE49-F238E27FC236}">
                <a16:creationId xmlns:a16="http://schemas.microsoft.com/office/drawing/2014/main" id="{792A63B2-23E7-BEE4-E250-47655A4BD3FA}"/>
              </a:ext>
            </a:extLst>
          </p:cNvPr>
          <p:cNvSpPr txBox="1">
            <a:spLocks/>
          </p:cNvSpPr>
          <p:nvPr/>
        </p:nvSpPr>
        <p:spPr>
          <a:xfrm>
            <a:off x="15142339" y="20378082"/>
            <a:ext cx="13579475" cy="754045"/>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rtl="1"/>
            <a:r>
              <a:rPr lang="fa-IR" dirty="0">
                <a:latin typeface="IRNazanin" panose="02000506000000020002" pitchFamily="2" charset="-78"/>
                <a:cs typeface="IRNazanin" panose="02000506000000020002" pitchFamily="2" charset="-78"/>
              </a:rPr>
              <a:t>ساختار روش پیشنهادی</a:t>
            </a:r>
            <a:endParaRPr lang="en-US" dirty="0">
              <a:latin typeface="IRNazanin" panose="02000506000000020002" pitchFamily="2" charset="-78"/>
              <a:cs typeface="IRNazanin" panose="02000506000000020002" pitchFamily="2" charset="-78"/>
            </a:endParaRPr>
          </a:p>
        </p:txBody>
      </p:sp>
      <p:sp>
        <p:nvSpPr>
          <p:cNvPr id="4" name="Text Placeholder 41">
            <a:extLst>
              <a:ext uri="{FF2B5EF4-FFF2-40B4-BE49-F238E27FC236}">
                <a16:creationId xmlns:a16="http://schemas.microsoft.com/office/drawing/2014/main" id="{ABF8EF75-5253-AC8B-35D8-75580E06ED49}"/>
              </a:ext>
            </a:extLst>
          </p:cNvPr>
          <p:cNvSpPr txBox="1">
            <a:spLocks/>
          </p:cNvSpPr>
          <p:nvPr/>
        </p:nvSpPr>
        <p:spPr>
          <a:xfrm>
            <a:off x="15162215" y="21044450"/>
            <a:ext cx="13571534" cy="6001621"/>
          </a:xfrm>
          <a:prstGeom prst="rect">
            <a:avLst/>
          </a:prstGeom>
        </p:spPr>
        <p:txBody>
          <a:bodyPr wrap="square" lIns="228589" tIns="228589" rIns="228589" bIns="228589">
            <a:spAutoFit/>
          </a:bodyPr>
          <a:lstStyle>
            <a:lvl1pPr marL="0" indent="0" algn="r" defTabSz="4388900" rtl="1"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rtl="1"/>
            <a:r>
              <a:rPr lang="fa-IR" b="0" i="0" dirty="0">
                <a:effectLst/>
                <a:latin typeface="IRNazanin" panose="02000506000000020002" pitchFamily="2" charset="-78"/>
                <a:cs typeface="IRNazanin" panose="02000506000000020002" pitchFamily="2" charset="-78"/>
              </a:rPr>
              <a:t>روش پیشنهادی با هدف ترکیب </a:t>
            </a:r>
            <a:r>
              <a:rPr lang="fa-IR" b="0" i="0" dirty="0" err="1">
                <a:effectLst/>
                <a:latin typeface="IRNazanin" panose="02000506000000020002" pitchFamily="2" charset="-78"/>
                <a:cs typeface="IRNazanin" panose="02000506000000020002" pitchFamily="2" charset="-78"/>
              </a:rPr>
              <a:t>هم‌زمان</a:t>
            </a:r>
            <a:r>
              <a:rPr lang="fa-IR" b="0" i="0" dirty="0">
                <a:effectLst/>
                <a:latin typeface="IRNazanin" panose="02000506000000020002" pitchFamily="2" charset="-78"/>
                <a:cs typeface="IRNazanin" panose="02000506000000020002" pitchFamily="2" charset="-78"/>
              </a:rPr>
              <a:t> اطلاعات زمانی و فرکانسی صدا و طراحی مدلی سبک، سریع و قابل استقرار شکل گرفت. ورودی سیستم شامل دو نمای مکمل از هر سیگنال صوتی است: موج خام که ساختار زمانی و الگوهای گذرای رویداد را در خود دارد، و </a:t>
            </a:r>
            <a:r>
              <a:rPr lang="fa-IR" b="0" i="0" dirty="0" err="1">
                <a:effectLst/>
                <a:latin typeface="IRNazanin" panose="02000506000000020002" pitchFamily="2" charset="-78"/>
                <a:cs typeface="IRNazanin" panose="02000506000000020002" pitchFamily="2" charset="-78"/>
              </a:rPr>
              <a:t>اسپکتروگرام</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لاگ</a:t>
            </a:r>
            <a:r>
              <a:rPr lang="fa-IR" b="0" i="0" dirty="0">
                <a:effectLst/>
                <a:latin typeface="IRNazanin" panose="02000506000000020002" pitchFamily="2" charset="-78"/>
                <a:cs typeface="IRNazanin" panose="02000506000000020002" pitchFamily="2" charset="-78"/>
              </a:rPr>
              <a:t> مل که الگوهای </a:t>
            </a:r>
            <a:r>
              <a:rPr lang="fa-IR" b="0" i="0" dirty="0" err="1">
                <a:effectLst/>
                <a:latin typeface="IRNazanin" panose="02000506000000020002" pitchFamily="2" charset="-78"/>
                <a:cs typeface="IRNazanin" panose="02000506000000020002" pitchFamily="2" charset="-78"/>
              </a:rPr>
              <a:t>پایدارتر</a:t>
            </a:r>
            <a:r>
              <a:rPr lang="fa-IR" b="0" i="0" dirty="0">
                <a:effectLst/>
                <a:latin typeface="IRNazanin" panose="02000506000000020002" pitchFamily="2" charset="-78"/>
                <a:cs typeface="IRNazanin" panose="02000506000000020002" pitchFamily="2" charset="-78"/>
              </a:rPr>
              <a:t> فرکانسی را نمایش </a:t>
            </a:r>
            <a:r>
              <a:rPr lang="fa-IR" b="0" i="0" dirty="0" err="1">
                <a:effectLst/>
                <a:latin typeface="IRNazanin" panose="02000506000000020002" pitchFamily="2" charset="-78"/>
                <a:cs typeface="IRNazanin" panose="02000506000000020002" pitchFamily="2" charset="-78"/>
              </a:rPr>
              <a:t>می‌دهد</a:t>
            </a:r>
            <a:r>
              <a:rPr lang="fa-IR" b="0" i="0" dirty="0">
                <a:effectLst/>
                <a:latin typeface="IRNazanin" panose="02000506000000020002" pitchFamily="2" charset="-78"/>
                <a:cs typeface="IRNazanin" panose="02000506000000020002" pitchFamily="2" charset="-78"/>
              </a:rPr>
              <a:t>. این دو نما پس از </a:t>
            </a:r>
            <a:r>
              <a:rPr lang="fa-IR" b="0" i="0" dirty="0" err="1">
                <a:effectLst/>
                <a:latin typeface="IRNazanin" panose="02000506000000020002" pitchFamily="2" charset="-78"/>
                <a:cs typeface="IRNazanin" panose="02000506000000020002" pitchFamily="2" charset="-78"/>
              </a:rPr>
              <a:t>پیش‌پردازش</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نرمال‌سازی</a:t>
            </a:r>
            <a:r>
              <a:rPr lang="fa-IR" b="0" i="0" dirty="0">
                <a:effectLst/>
                <a:latin typeface="IRNazanin" panose="02000506000000020002" pitchFamily="2" charset="-78"/>
                <a:cs typeface="IRNazanin" panose="02000506000000020002" pitchFamily="2" charset="-78"/>
              </a:rPr>
              <a:t>، در قالب نمایش ترکیبی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 ادغام </a:t>
            </a:r>
            <a:r>
              <a:rPr lang="fa-IR" b="0" i="0" dirty="0" err="1">
                <a:effectLst/>
                <a:latin typeface="IRNazanin" panose="02000506000000020002" pitchFamily="2" charset="-78"/>
                <a:cs typeface="IRNazanin" panose="02000506000000020002" pitchFamily="2" charset="-78"/>
              </a:rPr>
              <a:t>می‌شوند</a:t>
            </a:r>
            <a:r>
              <a:rPr lang="fa-IR" b="0" i="0" dirty="0">
                <a:effectLst/>
                <a:latin typeface="IRNazanin" panose="02000506000000020002" pitchFamily="2" charset="-78"/>
                <a:cs typeface="IRNazanin" panose="02000506000000020002" pitchFamily="2" charset="-78"/>
              </a:rPr>
              <a:t> تا شبکه بتواند </a:t>
            </a:r>
            <a:r>
              <a:rPr lang="fa-IR" b="0" i="0" dirty="0" err="1">
                <a:effectLst/>
                <a:latin typeface="IRNazanin" panose="02000506000000020002" pitchFamily="2" charset="-78"/>
                <a:cs typeface="IRNazanin" panose="02000506000000020002" pitchFamily="2" charset="-78"/>
              </a:rPr>
              <a:t>به‌طور</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هم‌زمان</a:t>
            </a:r>
            <a:r>
              <a:rPr lang="fa-IR" b="0" i="0" dirty="0">
                <a:effectLst/>
                <a:latin typeface="IRNazanin" panose="02000506000000020002" pitchFamily="2" charset="-78"/>
                <a:cs typeface="IRNazanin" panose="02000506000000020002" pitchFamily="2" charset="-78"/>
              </a:rPr>
              <a:t> به </a:t>
            </a:r>
            <a:r>
              <a:rPr lang="fa-IR" b="0" i="0" dirty="0" err="1">
                <a:effectLst/>
                <a:latin typeface="IRNazanin" panose="02000506000000020002" pitchFamily="2" charset="-78"/>
                <a:cs typeface="IRNazanin" panose="02000506000000020002" pitchFamily="2" charset="-78"/>
              </a:rPr>
              <a:t>ویژگی‌های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کوتاه‌مدت</a:t>
            </a:r>
            <a:r>
              <a:rPr lang="fa-IR" b="0" i="0" dirty="0">
                <a:effectLst/>
                <a:latin typeface="IRNazanin" panose="02000506000000020002" pitchFamily="2" charset="-78"/>
                <a:cs typeface="IRNazanin" panose="02000506000000020002" pitchFamily="2" charset="-78"/>
              </a:rPr>
              <a:t> و </a:t>
            </a:r>
            <a:r>
              <a:rPr lang="fa-IR" b="0" i="0" dirty="0" err="1">
                <a:effectLst/>
                <a:latin typeface="IRNazanin" panose="02000506000000020002" pitchFamily="2" charset="-78"/>
                <a:cs typeface="IRNazanin" panose="02000506000000020002" pitchFamily="2" charset="-78"/>
              </a:rPr>
              <a:t>بلندمدت</a:t>
            </a:r>
            <a:r>
              <a:rPr lang="fa-IR" b="0" i="0" dirty="0">
                <a:effectLst/>
                <a:latin typeface="IRNazanin" panose="02000506000000020002" pitchFamily="2" charset="-78"/>
                <a:cs typeface="IRNazanin" panose="02000506000000020002" pitchFamily="2" charset="-78"/>
              </a:rPr>
              <a:t> سیگنال دسترسی داشته باشد.</a:t>
            </a:r>
          </a:p>
          <a:p>
            <a:pPr algn="just" rtl="1"/>
            <a:r>
              <a:rPr lang="fa-IR" b="0" i="0" dirty="0">
                <a:effectLst/>
                <a:latin typeface="IRNazanin" panose="02000506000000020002" pitchFamily="2" charset="-78"/>
                <a:cs typeface="IRNazanin" panose="02000506000000020002" pitchFamily="2" charset="-78"/>
              </a:rPr>
              <a:t>برای استخراج ویژگی و </a:t>
            </a:r>
            <a:r>
              <a:rPr lang="fa-IR" b="0" i="0" dirty="0" err="1">
                <a:effectLst/>
                <a:latin typeface="IRNazanin" panose="02000506000000020002" pitchFamily="2" charset="-78"/>
                <a:cs typeface="IRNazanin" panose="02000506000000020002" pitchFamily="2" charset="-78"/>
              </a:rPr>
              <a:t>طبقه‌بندی</a:t>
            </a:r>
            <a:r>
              <a:rPr lang="fa-IR" b="0" i="0" dirty="0">
                <a:effectLst/>
                <a:latin typeface="IRNazanin" panose="02000506000000020002" pitchFamily="2" charset="-78"/>
                <a:cs typeface="IRNazanin" panose="02000506000000020002" pitchFamily="2" charset="-78"/>
              </a:rPr>
              <a:t>، معماری سبک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‑MFN مبتنی بر </a:t>
            </a:r>
            <a:r>
              <a:rPr lang="fa-IR" b="0" i="0" dirty="0" err="1">
                <a:effectLst/>
                <a:latin typeface="IRNazanin" panose="02000506000000020002" pitchFamily="2" charset="-78"/>
                <a:cs typeface="IRNazanin" panose="02000506000000020002" pitchFamily="2" charset="-78"/>
              </a:rPr>
              <a:t>MobileFaceNet</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به‌عنوان</a:t>
            </a:r>
            <a:r>
              <a:rPr lang="fa-IR" b="0" i="0" dirty="0">
                <a:effectLst/>
                <a:latin typeface="IRNazanin" panose="02000506000000020002" pitchFamily="2" charset="-78"/>
                <a:cs typeface="IRNazanin" panose="02000506000000020002" pitchFamily="2" charset="-78"/>
              </a:rPr>
              <a:t> هسته مدل انتخاب شد. زیرا با وجود حجم کم و سرعت بالا، توانایی یادگیری الگوهای پیچیده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را دارد. </a:t>
            </a:r>
            <a:r>
              <a:rPr lang="fa-IR" b="0" i="0" dirty="0" err="1">
                <a:effectLst/>
                <a:latin typeface="IRNazanin" panose="02000506000000020002" pitchFamily="2" charset="-78"/>
                <a:cs typeface="IRNazanin" panose="02000506000000020002" pitchFamily="2" charset="-78"/>
              </a:rPr>
              <a:t>لایه‌های</a:t>
            </a:r>
            <a:r>
              <a:rPr lang="fa-IR" b="0" i="0" dirty="0">
                <a:effectLst/>
                <a:latin typeface="IRNazanin" panose="02000506000000020002" pitchFamily="2" charset="-78"/>
                <a:cs typeface="IRNazanin" panose="02000506000000020002" pitchFamily="2" charset="-78"/>
              </a:rPr>
              <a:t> اولیه مدل به پردازش اختصاصی </a:t>
            </a:r>
            <a:r>
              <a:rPr lang="fa-IR" b="0" i="0" dirty="0" err="1">
                <a:effectLst/>
                <a:latin typeface="IRNazanin" panose="02000506000000020002" pitchFamily="2" charset="-78"/>
                <a:cs typeface="IRNazanin" panose="02000506000000020002" pitchFamily="2" charset="-78"/>
              </a:rPr>
              <a:t>STgram</a:t>
            </a:r>
            <a:r>
              <a:rPr lang="fa-IR" b="0" i="0" dirty="0">
                <a:effectLst/>
                <a:latin typeface="IRNazanin" panose="02000506000000020002" pitchFamily="2" charset="-78"/>
                <a:cs typeface="IRNazanin" panose="02000506000000020002" pitchFamily="2" charset="-78"/>
              </a:rPr>
              <a:t> و استخراج </a:t>
            </a:r>
            <a:r>
              <a:rPr lang="fa-IR" b="0" i="0" dirty="0" err="1">
                <a:effectLst/>
                <a:latin typeface="IRNazanin" panose="02000506000000020002" pitchFamily="2" charset="-78"/>
                <a:cs typeface="IRNazanin" panose="02000506000000020002" pitchFamily="2" charset="-78"/>
              </a:rPr>
              <a:t>ویژگی‌های</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چندسطحی</a:t>
            </a:r>
            <a:r>
              <a:rPr lang="fa-IR" b="0" i="0" dirty="0">
                <a:effectLst/>
                <a:latin typeface="IRNazanin" panose="02000506000000020002" pitchFamily="2" charset="-78"/>
                <a:cs typeface="IRNazanin" panose="02000506000000020002" pitchFamily="2" charset="-78"/>
              </a:rPr>
              <a:t> اختصاص </a:t>
            </a:r>
            <a:r>
              <a:rPr lang="fa-IR" b="0" i="0" dirty="0" err="1">
                <a:effectLst/>
                <a:latin typeface="IRNazanin" panose="02000506000000020002" pitchFamily="2" charset="-78"/>
                <a:cs typeface="IRNazanin" panose="02000506000000020002" pitchFamily="2" charset="-78"/>
              </a:rPr>
              <a:t>یافته‌اند</a:t>
            </a:r>
            <a:r>
              <a:rPr lang="fa-IR" b="0" i="0" dirty="0">
                <a:effectLst/>
                <a:latin typeface="IRNazanin" panose="02000506000000020002" pitchFamily="2" charset="-78"/>
                <a:cs typeface="IRNazanin" panose="02000506000000020002" pitchFamily="2" charset="-78"/>
              </a:rPr>
              <a:t>، در حالی که </a:t>
            </a:r>
            <a:r>
              <a:rPr lang="fa-IR" b="0" i="0" dirty="0" err="1">
                <a:effectLst/>
                <a:latin typeface="IRNazanin" panose="02000506000000020002" pitchFamily="2" charset="-78"/>
                <a:cs typeface="IRNazanin" panose="02000506000000020002" pitchFamily="2" charset="-78"/>
              </a:rPr>
              <a:t>بلوک‌های</a:t>
            </a:r>
            <a:r>
              <a:rPr lang="fa-IR" b="0" i="0" dirty="0">
                <a:effectLst/>
                <a:latin typeface="IRNazanin" panose="02000506000000020002" pitchFamily="2" charset="-78"/>
                <a:cs typeface="IRNazanin" panose="02000506000000020002" pitchFamily="2" charset="-78"/>
              </a:rPr>
              <a:t> عمقی شبکه مسئول ترکیب </a:t>
            </a:r>
            <a:r>
              <a:rPr lang="fa-IR" b="0" i="0" dirty="0" err="1">
                <a:effectLst/>
                <a:latin typeface="IRNazanin" panose="02000506000000020002" pitchFamily="2" charset="-78"/>
                <a:cs typeface="IRNazanin" panose="02000506000000020002" pitchFamily="2" charset="-78"/>
              </a:rPr>
              <a:t>ویژگی‌ها</a:t>
            </a:r>
            <a:r>
              <a:rPr lang="fa-IR" b="0" i="0" dirty="0">
                <a:effectLst/>
                <a:latin typeface="IRNazanin" panose="02000506000000020002" pitchFamily="2" charset="-78"/>
                <a:cs typeface="IRNazanin" panose="02000506000000020002" pitchFamily="2" charset="-78"/>
              </a:rPr>
              <a:t> و افزایش تمایز میان </a:t>
            </a:r>
            <a:r>
              <a:rPr lang="fa-IR" b="0" i="0" dirty="0" err="1">
                <a:effectLst/>
                <a:latin typeface="IRNazanin" panose="02000506000000020002" pitchFamily="2" charset="-78"/>
                <a:cs typeface="IRNazanin" panose="02000506000000020002" pitchFamily="2" charset="-78"/>
              </a:rPr>
              <a:t>کلاس‌ها</a:t>
            </a:r>
            <a:r>
              <a:rPr lang="fa-IR" b="0" i="0" dirty="0">
                <a:effectLst/>
                <a:latin typeface="IRNazanin" panose="02000506000000020002" pitchFamily="2" charset="-78"/>
                <a:cs typeface="IRNazanin" panose="02000506000000020002" pitchFamily="2" charset="-78"/>
              </a:rPr>
              <a:t> هستند. خروجی نهایی شبکه یک لایه </a:t>
            </a:r>
            <a:r>
              <a:rPr lang="fa-IR" dirty="0" err="1">
                <a:latin typeface="IRNazanin" panose="02000506000000020002" pitchFamily="2" charset="-78"/>
                <a:cs typeface="IRNazanin" panose="02000506000000020002" pitchFamily="2" charset="-78"/>
              </a:rPr>
              <a:t>سافت</a:t>
            </a:r>
            <a:r>
              <a:rPr lang="fa-IR" dirty="0">
                <a:latin typeface="IRNazanin" panose="02000506000000020002" pitchFamily="2" charset="-78"/>
                <a:cs typeface="IRNazanin" panose="02000506000000020002" pitchFamily="2" charset="-78"/>
              </a:rPr>
              <a:t> </a:t>
            </a:r>
            <a:r>
              <a:rPr lang="fa-IR" b="0" i="0" dirty="0">
                <a:effectLst/>
                <a:latin typeface="IRNazanin" panose="02000506000000020002" pitchFamily="2" charset="-78"/>
                <a:cs typeface="IRNazanin" panose="02000506000000020002" pitchFamily="2" charset="-78"/>
              </a:rPr>
              <a:t>‌</a:t>
            </a:r>
            <a:r>
              <a:rPr lang="fa-IR" b="0" i="0">
                <a:effectLst/>
                <a:latin typeface="IRNazanin" panose="02000506000000020002" pitchFamily="2" charset="-78"/>
                <a:cs typeface="IRNazanin" panose="02000506000000020002" pitchFamily="2" charset="-78"/>
              </a:rPr>
              <a:t>مکس</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چندکلاسه</a:t>
            </a:r>
            <a:r>
              <a:rPr lang="fa-IR" b="0" i="0" dirty="0">
                <a:effectLst/>
                <a:latin typeface="IRNazanin" panose="02000506000000020002" pitchFamily="2" charset="-78"/>
                <a:cs typeface="IRNazanin" panose="02000506000000020002" pitchFamily="2" charset="-78"/>
              </a:rPr>
              <a:t> است که پنج وضعیت هدف شامل شلیک، شکستن شیشه، گریه نوزاد، گفتار و بدون رویداد را تفکیک </a:t>
            </a:r>
            <a:r>
              <a:rPr lang="fa-IR" b="0" i="0" dirty="0" err="1">
                <a:effectLst/>
                <a:latin typeface="IRNazanin" panose="02000506000000020002" pitchFamily="2" charset="-78"/>
                <a:cs typeface="IRNazanin" panose="02000506000000020002" pitchFamily="2" charset="-78"/>
              </a:rPr>
              <a:t>می‌کند</a:t>
            </a:r>
            <a:r>
              <a:rPr lang="fa-IR" b="0" i="0" dirty="0">
                <a:effectLst/>
                <a:latin typeface="IRNazanin" panose="02000506000000020002" pitchFamily="2" charset="-78"/>
                <a:cs typeface="IRNazanin" panose="02000506000000020002" pitchFamily="2" charset="-78"/>
              </a:rPr>
              <a:t>.</a:t>
            </a:r>
          </a:p>
          <a:p>
            <a:pPr algn="just" rtl="1"/>
            <a:r>
              <a:rPr lang="fa-IR" b="0" i="0" dirty="0">
                <a:effectLst/>
                <a:latin typeface="IRNazanin" panose="02000506000000020002" pitchFamily="2" charset="-78"/>
                <a:cs typeface="IRNazanin" panose="02000506000000020002" pitchFamily="2" charset="-78"/>
              </a:rPr>
              <a:t>برای افزایش پایداری مدل، خط لوله آموزش شامل تولید یک </a:t>
            </a:r>
            <a:r>
              <a:rPr lang="fa-IR" b="0" i="0" dirty="0" err="1">
                <a:effectLst/>
                <a:latin typeface="IRNazanin" panose="02000506000000020002" pitchFamily="2" charset="-78"/>
                <a:cs typeface="IRNazanin" panose="02000506000000020002" pitchFamily="2" charset="-78"/>
              </a:rPr>
              <a:t>مجموعه‌دادگان</a:t>
            </a:r>
            <a:r>
              <a:rPr lang="fa-IR" b="0" i="0" dirty="0">
                <a:effectLst/>
                <a:latin typeface="IRNazanin" panose="02000506000000020002" pitchFamily="2" charset="-78"/>
                <a:cs typeface="IRNazanin" panose="02000506000000020002" pitchFamily="2" charset="-78"/>
              </a:rPr>
              <a:t> مصنوعی </a:t>
            </a:r>
            <a:r>
              <a:rPr lang="fa-IR" b="0" i="0" dirty="0" err="1">
                <a:effectLst/>
                <a:latin typeface="IRNazanin" panose="02000506000000020002" pitchFamily="2" charset="-78"/>
                <a:cs typeface="IRNazanin" panose="02000506000000020002" pitchFamily="2" charset="-78"/>
              </a:rPr>
              <a:t>کنترل‌شده</a:t>
            </a:r>
            <a:r>
              <a:rPr lang="fa-IR" b="0" i="0" dirty="0">
                <a:effectLst/>
                <a:latin typeface="IRNazanin" panose="02000506000000020002" pitchFamily="2" charset="-78"/>
                <a:cs typeface="IRNazanin" panose="02000506000000020002" pitchFamily="2" charset="-78"/>
              </a:rPr>
              <a:t>، تنظیم نسبت سیگنال به </a:t>
            </a:r>
            <a:r>
              <a:rPr lang="fa-IR" b="0" i="0" dirty="0" err="1">
                <a:effectLst/>
                <a:latin typeface="IRNazanin" panose="02000506000000020002" pitchFamily="2" charset="-78"/>
                <a:cs typeface="IRNazanin" panose="02000506000000020002" pitchFamily="2" charset="-78"/>
              </a:rPr>
              <a:t>نویز</a:t>
            </a:r>
            <a:r>
              <a:rPr lang="fa-IR" b="0" i="0" dirty="0">
                <a:effectLst/>
                <a:latin typeface="IRNazanin" panose="02000506000000020002" pitchFamily="2" charset="-78"/>
                <a:cs typeface="IRNazanin" panose="02000506000000020002" pitchFamily="2" charset="-78"/>
              </a:rPr>
              <a:t>، تعیین طول و موقعیت دقیق رخدادها و ایجاد </a:t>
            </a:r>
            <a:r>
              <a:rPr lang="fa-IR" b="0" i="0" dirty="0" err="1">
                <a:effectLst/>
                <a:latin typeface="IRNazanin" panose="02000506000000020002" pitchFamily="2" charset="-78"/>
                <a:cs typeface="IRNazanin" panose="02000506000000020002" pitchFamily="2" charset="-78"/>
              </a:rPr>
              <a:t>نمونه‌های</a:t>
            </a:r>
            <a:r>
              <a:rPr lang="fa-IR" b="0" i="0" dirty="0">
                <a:effectLst/>
                <a:latin typeface="IRNazanin" panose="02000506000000020002" pitchFamily="2" charset="-78"/>
                <a:cs typeface="IRNazanin" panose="02000506000000020002" pitchFamily="2" charset="-78"/>
              </a:rPr>
              <a:t> متنوع محیطی است. این ساختار داده کمک </a:t>
            </a:r>
            <a:r>
              <a:rPr lang="fa-IR" b="0" i="0" dirty="0" err="1">
                <a:effectLst/>
                <a:latin typeface="IRNazanin" panose="02000506000000020002" pitchFamily="2" charset="-78"/>
                <a:cs typeface="IRNazanin" panose="02000506000000020002" pitchFamily="2" charset="-78"/>
              </a:rPr>
              <a:t>می‌کند</a:t>
            </a:r>
            <a:r>
              <a:rPr lang="fa-IR" b="0" i="0" dirty="0">
                <a:effectLst/>
                <a:latin typeface="IRNazanin" panose="02000506000000020002" pitchFamily="2" charset="-78"/>
                <a:cs typeface="IRNazanin" panose="02000506000000020002" pitchFamily="2" charset="-78"/>
              </a:rPr>
              <a:t> تا مدل نهایی در برابر تغییرات محیطی مقاوم شده و قابلیت تعمیم به شرایط واقعی را پیدا کند. مدل پس از آموزش روی </a:t>
            </a:r>
            <a:r>
              <a:rPr lang="fa-IR" b="0" i="0" dirty="0" err="1">
                <a:effectLst/>
                <a:latin typeface="IRNazanin" panose="02000506000000020002" pitchFamily="2" charset="-78"/>
                <a:cs typeface="IRNazanin" panose="02000506000000020002" pitchFamily="2" charset="-78"/>
              </a:rPr>
              <a:t>مجموعه‌داده</a:t>
            </a:r>
            <a:r>
              <a:rPr lang="fa-IR" b="0" i="0" dirty="0">
                <a:effectLst/>
                <a:latin typeface="IRNazanin" panose="02000506000000020002" pitchFamily="2" charset="-78"/>
                <a:cs typeface="IRNazanin" panose="02000506000000020002" pitchFamily="2" charset="-78"/>
              </a:rPr>
              <a:t> ترکیبی، با استفاده از معیارهایی مانند دقت، </a:t>
            </a:r>
            <a:r>
              <a:rPr lang="fa-IR" b="0" i="0" dirty="0" err="1">
                <a:effectLst/>
                <a:latin typeface="IRNazanin" panose="02000506000000020002" pitchFamily="2" charset="-78"/>
                <a:cs typeface="IRNazanin" panose="02000506000000020002" pitchFamily="2" charset="-78"/>
              </a:rPr>
              <a:t>ماتریس</a:t>
            </a:r>
            <a:r>
              <a:rPr lang="fa-IR" b="0" i="0" dirty="0">
                <a:effectLst/>
                <a:latin typeface="IRNazanin" panose="02000506000000020002" pitchFamily="2" charset="-78"/>
                <a:cs typeface="IRNazanin" panose="02000506000000020002" pitchFamily="2" charset="-78"/>
              </a:rPr>
              <a:t> </a:t>
            </a:r>
            <a:r>
              <a:rPr lang="fa-IR" b="0" i="0" dirty="0" err="1">
                <a:effectLst/>
                <a:latin typeface="IRNazanin" panose="02000506000000020002" pitchFamily="2" charset="-78"/>
                <a:cs typeface="IRNazanin" panose="02000506000000020002" pitchFamily="2" charset="-78"/>
              </a:rPr>
              <a:t>درهم‌ریختگی</a:t>
            </a:r>
            <a:r>
              <a:rPr lang="fa-IR" b="0" i="0" dirty="0">
                <a:effectLst/>
                <a:latin typeface="IRNazanin" panose="02000506000000020002" pitchFamily="2" charset="-78"/>
                <a:cs typeface="IRNazanin" panose="02000506000000020002" pitchFamily="2" charset="-78"/>
              </a:rPr>
              <a:t> و رفتار در کلاس بدون رویداد ارزیابی شد تا مطمئن شود روش پیشنهادی توانایی پایدار در تشخیص پنج کلاس هدف دارد.</a:t>
            </a:r>
          </a:p>
        </p:txBody>
      </p:sp>
      <p:pic>
        <p:nvPicPr>
          <p:cNvPr id="7" name="Picture 6">
            <a:extLst>
              <a:ext uri="{FF2B5EF4-FFF2-40B4-BE49-F238E27FC236}">
                <a16:creationId xmlns:a16="http://schemas.microsoft.com/office/drawing/2014/main" id="{FE4DF202-0C08-E2A6-7A02-BBA7F247F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964" y="14658473"/>
            <a:ext cx="13510849" cy="7061100"/>
          </a:xfrm>
          <a:prstGeom prst="rect">
            <a:avLst/>
          </a:prstGeom>
        </p:spPr>
      </p:pic>
      <p:sp>
        <p:nvSpPr>
          <p:cNvPr id="9" name="TextBox 8">
            <a:extLst>
              <a:ext uri="{FF2B5EF4-FFF2-40B4-BE49-F238E27FC236}">
                <a16:creationId xmlns:a16="http://schemas.microsoft.com/office/drawing/2014/main" id="{5C13FCB3-7EDB-2B80-EE42-CD2756047A4D}"/>
              </a:ext>
            </a:extLst>
          </p:cNvPr>
          <p:cNvSpPr txBox="1"/>
          <p:nvPr/>
        </p:nvSpPr>
        <p:spPr>
          <a:xfrm>
            <a:off x="922338" y="21770350"/>
            <a:ext cx="13546074" cy="477054"/>
          </a:xfrm>
          <a:prstGeom prst="rect">
            <a:avLst/>
          </a:prstGeom>
          <a:noFill/>
        </p:spPr>
        <p:txBody>
          <a:bodyPr wrap="square" rtlCol="0">
            <a:spAutoFit/>
          </a:bodyPr>
          <a:lstStyle/>
          <a:p>
            <a:pPr marL="0" algn="ctr" defTabSz="4388900" rtl="1" eaLnBrk="1" latinLnBrk="0" hangingPunct="1"/>
            <a:r>
              <a:rPr lang="fa-IR" sz="2500" dirty="0">
                <a:solidFill>
                  <a:schemeClr val="accent5">
                    <a:lumMod val="50000"/>
                  </a:schemeClr>
                </a:solidFill>
                <a:latin typeface="IRNazanin" panose="02000506000000020002" pitchFamily="2" charset="-78"/>
                <a:cs typeface="IRNazanin" panose="02000506000000020002" pitchFamily="2" charset="-78"/>
              </a:rPr>
              <a:t>شکل ۵: تصویری از سامانه هنگام اجرا و تشخیص صدا به عنوان گفتار</a:t>
            </a:r>
            <a:endParaRPr lang="en-IR" sz="2500" dirty="0">
              <a:solidFill>
                <a:schemeClr val="accent5">
                  <a:lumMod val="50000"/>
                </a:schemeClr>
              </a:solidFill>
              <a:latin typeface="IRNazanin" panose="02000506000000020002" pitchFamily="2" charset="-78"/>
              <a:cs typeface="IRNazanin" panose="02000506000000020002" pitchFamily="2" charset="-78"/>
            </a:endParaRPr>
          </a:p>
        </p:txBody>
      </p:sp>
      <p:sp>
        <p:nvSpPr>
          <p:cNvPr id="8" name="TextBox 7">
            <a:extLst>
              <a:ext uri="{FF2B5EF4-FFF2-40B4-BE49-F238E27FC236}">
                <a16:creationId xmlns:a16="http://schemas.microsoft.com/office/drawing/2014/main" id="{0429B088-5418-6A82-0D21-172C9146EDE2}"/>
              </a:ext>
            </a:extLst>
          </p:cNvPr>
          <p:cNvSpPr txBox="1"/>
          <p:nvPr/>
        </p:nvSpPr>
        <p:spPr>
          <a:xfrm>
            <a:off x="29390709" y="31322109"/>
            <a:ext cx="13581061" cy="477054"/>
          </a:xfrm>
          <a:prstGeom prst="rect">
            <a:avLst/>
          </a:prstGeom>
          <a:noFill/>
        </p:spPr>
        <p:txBody>
          <a:bodyPr wrap="square" rtlCol="0">
            <a:spAutoFit/>
          </a:bodyPr>
          <a:lstStyle/>
          <a:p>
            <a:pPr algn="ctr"/>
            <a:r>
              <a:rPr lang="fa-IR" sz="2500" dirty="0">
                <a:solidFill>
                  <a:schemeClr val="accent5">
                    <a:lumMod val="50000"/>
                  </a:schemeClr>
                </a:solidFill>
                <a:latin typeface="IRNazanin" panose="02000506000000020002" pitchFamily="2" charset="-78"/>
                <a:cs typeface="IRNazanin" panose="02000506000000020002" pitchFamily="2" charset="-78"/>
              </a:rPr>
              <a:t>شکل ۲: نمونه خروجی </a:t>
            </a:r>
            <a:r>
              <a:rPr lang="fa-IR" sz="2500" dirty="0" err="1">
                <a:solidFill>
                  <a:schemeClr val="accent5">
                    <a:lumMod val="50000"/>
                  </a:schemeClr>
                </a:solidFill>
                <a:latin typeface="IRNazanin" panose="02000506000000020002" pitchFamily="2" charset="-78"/>
                <a:cs typeface="IRNazanin" panose="02000506000000020002" pitchFamily="2" charset="-78"/>
              </a:rPr>
              <a:t>لاگ</a:t>
            </a:r>
            <a:r>
              <a:rPr lang="fa-IR" sz="2500" dirty="0">
                <a:solidFill>
                  <a:schemeClr val="accent5">
                    <a:lumMod val="50000"/>
                  </a:schemeClr>
                </a:solidFill>
                <a:latin typeface="IRNazanin" panose="02000506000000020002" pitchFamily="2" charset="-78"/>
                <a:cs typeface="IRNazanin" panose="02000506000000020002" pitchFamily="2" charset="-78"/>
              </a:rPr>
              <a:t> مل </a:t>
            </a:r>
            <a:r>
              <a:rPr lang="fa-IR" sz="2500" dirty="0" err="1">
                <a:solidFill>
                  <a:schemeClr val="accent5">
                    <a:lumMod val="50000"/>
                  </a:schemeClr>
                </a:solidFill>
                <a:latin typeface="IRNazanin" panose="02000506000000020002" pitchFamily="2" charset="-78"/>
                <a:cs typeface="IRNazanin" panose="02000506000000020002" pitchFamily="2" charset="-78"/>
              </a:rPr>
              <a:t>اسپکتوگرام</a:t>
            </a:r>
            <a:r>
              <a:rPr lang="fa-IR" sz="2500" dirty="0">
                <a:solidFill>
                  <a:schemeClr val="accent5">
                    <a:lumMod val="50000"/>
                  </a:schemeClr>
                </a:solidFill>
                <a:latin typeface="IRNazanin" panose="02000506000000020002" pitchFamily="2" charset="-78"/>
                <a:cs typeface="IRNazanin" panose="02000506000000020002" pitchFamily="2" charset="-78"/>
              </a:rPr>
              <a:t> صدای شکستن شیشه بالا</a:t>
            </a:r>
            <a:endParaRPr lang="en-IR" sz="2500" dirty="0">
              <a:solidFill>
                <a:schemeClr val="accent5">
                  <a:lumMod val="50000"/>
                </a:schemeClr>
              </a:solidFill>
              <a:latin typeface="IRNazanin" panose="02000506000000020002" pitchFamily="2" charset="-78"/>
              <a:cs typeface="IRNazanin" panose="02000506000000020002" pitchFamily="2" charset="-78"/>
            </a:endParaRPr>
          </a:p>
        </p:txBody>
      </p:sp>
      <p:pic>
        <p:nvPicPr>
          <p:cNvPr id="11" name="Picture 10">
            <a:extLst>
              <a:ext uri="{FF2B5EF4-FFF2-40B4-BE49-F238E27FC236}">
                <a16:creationId xmlns:a16="http://schemas.microsoft.com/office/drawing/2014/main" id="{24AFBC5E-0C3B-C29E-D8BB-8C3BCE440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42901" y="14605345"/>
            <a:ext cx="13481705" cy="3233169"/>
          </a:xfrm>
          <a:prstGeom prst="rect">
            <a:avLst/>
          </a:prstGeom>
        </p:spPr>
      </p:pic>
      <p:sp>
        <p:nvSpPr>
          <p:cNvPr id="13" name="TextBox 12">
            <a:extLst>
              <a:ext uri="{FF2B5EF4-FFF2-40B4-BE49-F238E27FC236}">
                <a16:creationId xmlns:a16="http://schemas.microsoft.com/office/drawing/2014/main" id="{0C524E96-150D-270E-21C3-B61CAD65D195}"/>
              </a:ext>
            </a:extLst>
          </p:cNvPr>
          <p:cNvSpPr txBox="1"/>
          <p:nvPr/>
        </p:nvSpPr>
        <p:spPr>
          <a:xfrm>
            <a:off x="29390709" y="17815685"/>
            <a:ext cx="13533897" cy="477054"/>
          </a:xfrm>
          <a:prstGeom prst="rect">
            <a:avLst/>
          </a:prstGeom>
          <a:noFill/>
        </p:spPr>
        <p:txBody>
          <a:bodyPr wrap="square" rtlCol="0">
            <a:spAutoFit/>
          </a:bodyPr>
          <a:lstStyle/>
          <a:p>
            <a:pPr marL="0" algn="ctr" defTabSz="4388900" rtl="1" eaLnBrk="1" latinLnBrk="0" hangingPunct="1"/>
            <a:r>
              <a:rPr lang="fa-IR" sz="2500" dirty="0">
                <a:solidFill>
                  <a:schemeClr val="accent5">
                    <a:lumMod val="50000"/>
                  </a:schemeClr>
                </a:solidFill>
                <a:latin typeface="IRNazanin" panose="02000506000000020002" pitchFamily="2" charset="-78"/>
                <a:cs typeface="IRNazanin" panose="02000506000000020002" pitchFamily="2" charset="-78"/>
              </a:rPr>
              <a:t>شکل ۱: نمونه ورودی صدا سیگنال شکستن شیشه</a:t>
            </a:r>
            <a:endParaRPr lang="en-IR" sz="2500" dirty="0">
              <a:solidFill>
                <a:schemeClr val="accent5">
                  <a:lumMod val="50000"/>
                </a:schemeClr>
              </a:solidFill>
              <a:latin typeface="IRNazanin" panose="02000506000000020002" pitchFamily="2" charset="-78"/>
              <a:cs typeface="IRNazanin" panose="02000506000000020002" pitchFamily="2" charset="-78"/>
            </a:endParaRPr>
          </a:p>
        </p:txBody>
      </p:sp>
      <p:pic>
        <p:nvPicPr>
          <p:cNvPr id="16" name="Picture 15">
            <a:extLst>
              <a:ext uri="{FF2B5EF4-FFF2-40B4-BE49-F238E27FC236}">
                <a16:creationId xmlns:a16="http://schemas.microsoft.com/office/drawing/2014/main" id="{F519D4C0-A865-59BD-4D7A-D237E71435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765" y="27810781"/>
            <a:ext cx="13178947" cy="3384223"/>
          </a:xfrm>
          <a:prstGeom prst="rect">
            <a:avLst/>
          </a:prstGeom>
        </p:spPr>
      </p:pic>
      <p:pic>
        <p:nvPicPr>
          <p:cNvPr id="19" name="Picture 18">
            <a:extLst>
              <a:ext uri="{FF2B5EF4-FFF2-40B4-BE49-F238E27FC236}">
                <a16:creationId xmlns:a16="http://schemas.microsoft.com/office/drawing/2014/main" id="{0F498981-3C05-E34F-1CC3-84B94FD6C2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49606" y="14594380"/>
            <a:ext cx="3686313" cy="4997551"/>
          </a:xfrm>
          <a:prstGeom prst="rect">
            <a:avLst/>
          </a:prstGeom>
        </p:spPr>
      </p:pic>
      <p:pic>
        <p:nvPicPr>
          <p:cNvPr id="21" name="Picture 20">
            <a:extLst>
              <a:ext uri="{FF2B5EF4-FFF2-40B4-BE49-F238E27FC236}">
                <a16:creationId xmlns:a16="http://schemas.microsoft.com/office/drawing/2014/main" id="{558814FB-8880-AF46-1F66-EE46FC6746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213541" y="27032670"/>
            <a:ext cx="13508274" cy="3911898"/>
          </a:xfrm>
          <a:prstGeom prst="rect">
            <a:avLst/>
          </a:prstGeom>
        </p:spPr>
      </p:pic>
      <p:sp>
        <p:nvSpPr>
          <p:cNvPr id="22" name="TextBox 21">
            <a:extLst>
              <a:ext uri="{FF2B5EF4-FFF2-40B4-BE49-F238E27FC236}">
                <a16:creationId xmlns:a16="http://schemas.microsoft.com/office/drawing/2014/main" id="{B2AFE081-FA48-46AE-9327-7888DAF4369A}"/>
              </a:ext>
            </a:extLst>
          </p:cNvPr>
          <p:cNvSpPr txBox="1"/>
          <p:nvPr/>
        </p:nvSpPr>
        <p:spPr>
          <a:xfrm>
            <a:off x="15162215" y="31129760"/>
            <a:ext cx="13559599" cy="477054"/>
          </a:xfrm>
          <a:prstGeom prst="rect">
            <a:avLst/>
          </a:prstGeom>
          <a:noFill/>
        </p:spPr>
        <p:txBody>
          <a:bodyPr wrap="square" rtlCol="0">
            <a:spAutoFit/>
          </a:bodyPr>
          <a:lstStyle/>
          <a:p>
            <a:pPr marL="0" algn="ctr" defTabSz="4388900" rtl="1" eaLnBrk="1" latinLnBrk="0" hangingPunct="1"/>
            <a:r>
              <a:rPr lang="fa-IR" sz="2500" dirty="0">
                <a:solidFill>
                  <a:schemeClr val="accent5">
                    <a:lumMod val="50000"/>
                  </a:schemeClr>
                </a:solidFill>
                <a:latin typeface="IRNazanin" panose="02000506000000020002" pitchFamily="2" charset="-78"/>
                <a:cs typeface="IRNazanin" panose="02000506000000020002" pitchFamily="2" charset="-78"/>
              </a:rPr>
              <a:t>شکل ۴: معماری کلی مدل با </a:t>
            </a:r>
            <a:r>
              <a:rPr lang="fa-IR" sz="2500" dirty="0" err="1">
                <a:solidFill>
                  <a:schemeClr val="accent5">
                    <a:lumMod val="50000"/>
                  </a:schemeClr>
                </a:solidFill>
                <a:latin typeface="IRNazanin" panose="02000506000000020002" pitchFamily="2" charset="-78"/>
                <a:cs typeface="IRNazanin" panose="02000506000000020002" pitchFamily="2" charset="-78"/>
              </a:rPr>
              <a:t>طبقه‌بند</a:t>
            </a:r>
            <a:r>
              <a:rPr lang="fa-IR" sz="2500" dirty="0">
                <a:solidFill>
                  <a:schemeClr val="accent5">
                    <a:lumMod val="50000"/>
                  </a:schemeClr>
                </a:solidFill>
                <a:latin typeface="IRNazanin" panose="02000506000000020002" pitchFamily="2" charset="-78"/>
                <a:cs typeface="IRNazanin" panose="02000506000000020002" pitchFamily="2" charset="-78"/>
              </a:rPr>
              <a:t> </a:t>
            </a:r>
            <a:r>
              <a:rPr lang="fa-IR" sz="2500" dirty="0" err="1">
                <a:solidFill>
                  <a:schemeClr val="accent5">
                    <a:lumMod val="50000"/>
                  </a:schemeClr>
                </a:solidFill>
                <a:latin typeface="IRNazanin" panose="02000506000000020002" pitchFamily="2" charset="-78"/>
                <a:cs typeface="IRNazanin" panose="02000506000000020002" pitchFamily="2" charset="-78"/>
              </a:rPr>
              <a:t>M</a:t>
            </a:r>
            <a:r>
              <a:rPr lang="en-US" sz="2500" dirty="0" err="1">
                <a:solidFill>
                  <a:schemeClr val="accent5">
                    <a:lumMod val="50000"/>
                  </a:schemeClr>
                </a:solidFill>
                <a:latin typeface="IRNazanin" panose="02000506000000020002" pitchFamily="2" charset="-78"/>
                <a:cs typeface="IRNazanin" panose="02000506000000020002" pitchFamily="2" charset="-78"/>
              </a:rPr>
              <a:t>obileFaceNet</a:t>
            </a:r>
            <a:endParaRPr lang="en-IR" sz="2500" dirty="0">
              <a:solidFill>
                <a:schemeClr val="accent5">
                  <a:lumMod val="50000"/>
                </a:schemeClr>
              </a:solidFill>
              <a:latin typeface="IRNazanin" panose="02000506000000020002" pitchFamily="2" charset="-78"/>
              <a:cs typeface="IRNazanin" panose="02000506000000020002" pitchFamily="2" charset="-78"/>
            </a:endParaRPr>
          </a:p>
        </p:txBody>
      </p:sp>
      <p:sp>
        <p:nvSpPr>
          <p:cNvPr id="23" name="TextBox 22">
            <a:extLst>
              <a:ext uri="{FF2B5EF4-FFF2-40B4-BE49-F238E27FC236}">
                <a16:creationId xmlns:a16="http://schemas.microsoft.com/office/drawing/2014/main" id="{7904B0BA-53B4-6705-1264-87C1CCB45B49}"/>
              </a:ext>
            </a:extLst>
          </p:cNvPr>
          <p:cNvSpPr txBox="1"/>
          <p:nvPr/>
        </p:nvSpPr>
        <p:spPr>
          <a:xfrm>
            <a:off x="15162215" y="19455818"/>
            <a:ext cx="13559599" cy="477054"/>
          </a:xfrm>
          <a:prstGeom prst="rect">
            <a:avLst/>
          </a:prstGeom>
          <a:noFill/>
        </p:spPr>
        <p:txBody>
          <a:bodyPr wrap="square" rtlCol="0">
            <a:spAutoFit/>
          </a:bodyPr>
          <a:lstStyle/>
          <a:p>
            <a:pPr algn="ctr" rtl="1"/>
            <a:r>
              <a:rPr lang="fa-IR" sz="2500" dirty="0">
                <a:solidFill>
                  <a:schemeClr val="accent5">
                    <a:lumMod val="50000"/>
                  </a:schemeClr>
                </a:solidFill>
                <a:latin typeface="IRNazanin" panose="02000506000000020002" pitchFamily="2" charset="-78"/>
                <a:cs typeface="IRNazanin" panose="02000506000000020002" pitchFamily="2" charset="-78"/>
              </a:rPr>
              <a:t>شکل ۳: معماری بخش </a:t>
            </a:r>
            <a:r>
              <a:rPr lang="en-US" sz="2500" dirty="0" err="1">
                <a:solidFill>
                  <a:schemeClr val="accent5">
                    <a:lumMod val="50000"/>
                  </a:schemeClr>
                </a:solidFill>
                <a:latin typeface="IRNazanin" panose="02000506000000020002" pitchFamily="2" charset="-78"/>
                <a:cs typeface="IRNazanin" panose="02000506000000020002" pitchFamily="2" charset="-78"/>
              </a:rPr>
              <a:t>Tgram</a:t>
            </a:r>
            <a:r>
              <a:rPr lang="en-US" sz="2500" dirty="0">
                <a:solidFill>
                  <a:schemeClr val="accent5">
                    <a:lumMod val="50000"/>
                  </a:schemeClr>
                </a:solidFill>
                <a:latin typeface="IRNazanin" panose="02000506000000020002" pitchFamily="2" charset="-78"/>
                <a:cs typeface="IRNazanin" panose="02000506000000020002" pitchFamily="2" charset="-78"/>
              </a:rPr>
              <a:t> </a:t>
            </a:r>
            <a:r>
              <a:rPr lang="fa-IR" sz="2500" dirty="0">
                <a:solidFill>
                  <a:schemeClr val="accent5">
                    <a:lumMod val="50000"/>
                  </a:schemeClr>
                </a:solidFill>
                <a:latin typeface="IRNazanin" panose="02000506000000020002" pitchFamily="2" charset="-78"/>
                <a:cs typeface="IRNazanin" panose="02000506000000020002" pitchFamily="2" charset="-78"/>
              </a:rPr>
              <a:t> مدل</a:t>
            </a:r>
            <a:endParaRPr lang="en-IR" sz="2500" dirty="0">
              <a:solidFill>
                <a:schemeClr val="accent5">
                  <a:lumMod val="50000"/>
                </a:schemeClr>
              </a:solidFill>
              <a:latin typeface="IRNazanin" panose="02000506000000020002" pitchFamily="2" charset="-78"/>
              <a:cs typeface="IRNazanin" panose="02000506000000020002" pitchFamily="2" charset="-78"/>
            </a:endParaRPr>
          </a:p>
        </p:txBody>
      </p:sp>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V2b">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1_Classic 3 Column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ian Poster">
      <a:majorFont>
        <a:latin typeface="Calibri"/>
        <a:ea typeface=""/>
        <a:cs typeface="B Titr"/>
      </a:majorFont>
      <a:minorFont>
        <a:latin typeface="Calibri"/>
        <a:ea typeface=""/>
        <a:cs typeface="B Nazani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941</TotalTime>
  <Words>2443</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vt:i4>
      </vt:variant>
    </vt:vector>
  </HeadingPairs>
  <TitlesOfParts>
    <vt:vector size="10" baseType="lpstr">
      <vt:lpstr>Arial</vt:lpstr>
      <vt:lpstr>Arial Black</vt:lpstr>
      <vt:lpstr>Calibri</vt:lpstr>
      <vt:lpstr>IRNazanin</vt:lpstr>
      <vt:lpstr>Times New Roman</vt:lpstr>
      <vt:lpstr>Trebuchet MS</vt:lpstr>
      <vt:lpstr>36x48-Template-V2b</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hossaf82@gmail.com</cp:lastModifiedBy>
  <cp:revision>81</cp:revision>
  <dcterms:created xsi:type="dcterms:W3CDTF">2012-02-03T19:11:35Z</dcterms:created>
  <dcterms:modified xsi:type="dcterms:W3CDTF">2026-04-12T09:57:45Z</dcterms:modified>
</cp:coreProperties>
</file>