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79" r:id="rId1"/>
  </p:sldMasterIdLst>
  <p:notesMasterIdLst>
    <p:notesMasterId r:id="rId16"/>
  </p:notesMasterIdLst>
  <p:sldIdLst>
    <p:sldId id="256" r:id="rId2"/>
    <p:sldId id="581" r:id="rId3"/>
    <p:sldId id="349" r:id="rId4"/>
    <p:sldId id="548" r:id="rId5"/>
    <p:sldId id="545" r:id="rId6"/>
    <p:sldId id="579" r:id="rId7"/>
    <p:sldId id="580" r:id="rId8"/>
    <p:sldId id="583" r:id="rId9"/>
    <p:sldId id="582" r:id="rId10"/>
    <p:sldId id="577" r:id="rId11"/>
    <p:sldId id="576" r:id="rId12"/>
    <p:sldId id="575" r:id="rId13"/>
    <p:sldId id="578" r:id="rId14"/>
    <p:sldId id="336" r:id="rId15"/>
  </p:sldIdLst>
  <p:sldSz cx="9144000" cy="5143500" type="screen16x9"/>
  <p:notesSz cx="6858000" cy="9144000"/>
  <p:embeddedFontLst>
    <p:embeddedFont>
      <p:font typeface="Albert Sans" pitchFamily="2" charset="77"/>
      <p:regular r:id="rId17"/>
      <p:bold r:id="rId18"/>
      <p:italic r:id="rId19"/>
      <p:boldItalic r:id="rId20"/>
    </p:embeddedFont>
    <p:embeddedFont>
      <p:font typeface="Albert Sans Medium" pitchFamily="2" charset="77"/>
      <p:regular r:id="rId21"/>
      <p:bold r:id="rId22"/>
      <p:italic r:id="rId23"/>
      <p:boldItalic r:id="rId24"/>
    </p:embeddedFont>
    <p:embeddedFont>
      <p:font typeface="Digi Rastin Plus Line" panose="02000806080000060004" pitchFamily="2" charset="-78"/>
      <p:bold r:id="rId25"/>
    </p:embeddedFont>
    <p:embeddedFont>
      <p:font typeface="IRANSans" panose="02040503050201020203" pitchFamily="18" charset="-78"/>
      <p:regular r:id="rId26"/>
      <p:bold r:id="rId27"/>
    </p:embeddedFont>
    <p:embeddedFont>
      <p:font typeface="IRANSans(FaNum) Medium" panose="02040503050201020203" pitchFamily="18" charset="-78"/>
      <p:regular r:id="rId28"/>
    </p:embeddedFont>
    <p:embeddedFont>
      <p:font typeface="IRNazanin" panose="02000506000000020002" pitchFamily="2" charset="-78"/>
      <p:regular r:id="rId29"/>
      <p:bold r:id="rId30"/>
      <p:italic r:id="rId31"/>
    </p:embeddedFont>
    <p:embeddedFont>
      <p:font typeface="Poppins" pitchFamily="2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36B"/>
    <a:srgbClr val="252525"/>
    <a:srgbClr val="C7EBE7"/>
    <a:srgbClr val="0584A4"/>
    <a:srgbClr val="EAECED"/>
    <a:srgbClr val="9CC2E5"/>
    <a:srgbClr val="C7C7C7"/>
    <a:srgbClr val="B24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E338CC-EE3A-4028-9C5C-8A8CE8757631}">
  <a:tblStyle styleId="{A3E338CC-EE3A-4028-9C5C-8A8CE87576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71" d="100"/>
          <a:sy n="171" d="100"/>
        </p:scale>
        <p:origin x="440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189D-85A9-2B63-5BF0-1433BE8D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E363B-B057-9AB2-0825-99EAF6251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26336-AC86-DEE4-4443-102993C5A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98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876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907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181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A7DF-445C-A12D-A3A0-4BCDA59A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00E76-F75E-7012-7E15-CC1850C3F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9D878-34C8-8AC3-13D9-385A68C59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17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C707-62B4-FF20-76D8-B2024439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CE830-F33C-C8CD-C6D9-543F156FB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56638-F385-4B35-9D5A-05E5C3124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7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E8B43-DC1C-093A-8869-81F3ACD4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37BAC-D44D-7795-0F7D-778206EB2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CFC96-6376-6581-B192-9F0369041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07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EE8C-9565-55AB-09E5-6E66931D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38650-120C-F7E0-16C0-87645454B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F8730-0CF2-172E-347D-56E39B721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364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F0D0-14A4-FAF5-A573-FC2E7B0E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81B6B-B321-489A-D613-822BFFA51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36FA5-A72E-66B7-3327-90532A88B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65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974E-92C2-5110-855E-9ED2DF03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D56F0-BE16-F8B4-F79F-5091692A5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23BDF-E2BB-844C-507A-C946F90A1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27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449D-3B8F-EB66-A09D-DFD3BF5E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6F39E-7FF5-B12D-5CF3-A24BD553D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DFD0C-80F9-230F-F0DB-A4BDE8D9E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15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14D3-F4D7-AC4E-831B-322840C32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8CA24-CFDA-84E1-EF97-BCA753709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D5B0E-739F-A128-DB17-1624C4B05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3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234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529038"/>
            <a:ext cx="6919800" cy="200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721100"/>
            <a:ext cx="2308200" cy="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86316" y="-769880"/>
            <a:ext cx="9276274" cy="9176905"/>
            <a:chOff x="-386316" y="-769880"/>
            <a:chExt cx="9276274" cy="9176905"/>
          </a:xfrm>
        </p:grpSpPr>
        <p:sp>
          <p:nvSpPr>
            <p:cNvPr id="12" name="Google Shape;12;p2"/>
            <p:cNvSpPr/>
            <p:nvPr/>
          </p:nvSpPr>
          <p:spPr>
            <a:xfrm>
              <a:off x="7629958" y="3058625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736200" y="3879112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312387" y="-769880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-38477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-386316" y="-27518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rgbClr val="F2557A">
                <a:alpha val="524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13225" y="2271750"/>
            <a:ext cx="3318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679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713225" y="3356325"/>
            <a:ext cx="3318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21"/>
          <p:cNvGrpSpPr/>
          <p:nvPr/>
        </p:nvGrpSpPr>
        <p:grpSpPr>
          <a:xfrm>
            <a:off x="-107146" y="-909126"/>
            <a:ext cx="9417818" cy="8992626"/>
            <a:chOff x="-107146" y="-909126"/>
            <a:chExt cx="9417818" cy="8992626"/>
          </a:xfrm>
        </p:grpSpPr>
        <p:sp>
          <p:nvSpPr>
            <p:cNvPr id="145" name="Google Shape;145;p21"/>
            <p:cNvSpPr/>
            <p:nvPr/>
          </p:nvSpPr>
          <p:spPr>
            <a:xfrm rot="10800000" flipH="1">
              <a:off x="8519272" y="3954900"/>
              <a:ext cx="791400" cy="41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6" name="Google Shape;146;p21"/>
            <p:cNvSpPr/>
            <p:nvPr/>
          </p:nvSpPr>
          <p:spPr>
            <a:xfrm rot="10800000" flipH="1">
              <a:off x="7958000" y="4588140"/>
              <a:ext cx="791400" cy="2862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47" name="Google Shape;147;p21"/>
            <p:cNvGrpSpPr/>
            <p:nvPr/>
          </p:nvGrpSpPr>
          <p:grpSpPr>
            <a:xfrm rot="5400000">
              <a:off x="-544100" y="-472171"/>
              <a:ext cx="1828500" cy="954591"/>
              <a:chOff x="-1253563" y="3992679"/>
              <a:chExt cx="1828500" cy="954591"/>
            </a:xfrm>
          </p:grpSpPr>
          <p:sp>
            <p:nvSpPr>
              <p:cNvPr id="148" name="Google Shape;148;p21"/>
              <p:cNvSpPr/>
              <p:nvPr/>
            </p:nvSpPr>
            <p:spPr>
              <a:xfrm rot="5400000" flipH="1">
                <a:off x="-119071" y="3992679"/>
                <a:ext cx="277200" cy="277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9" name="Google Shape;149;p21"/>
              <p:cNvSpPr/>
              <p:nvPr/>
            </p:nvSpPr>
            <p:spPr>
              <a:xfrm rot="5400000">
                <a:off x="-678013" y="3694320"/>
                <a:ext cx="677400" cy="1828500"/>
              </a:xfrm>
              <a:prstGeom prst="roundRect">
                <a:avLst>
                  <a:gd name="adj" fmla="val 50000"/>
                </a:avLst>
              </a:prstGeom>
              <a:solidFill>
                <a:srgbClr val="F2557A">
                  <a:alpha val="6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 flipH="1">
            <a:off x="8312375" y="-678400"/>
            <a:ext cx="1648800" cy="16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" name="Google Shape;242;p29"/>
          <p:cNvSpPr/>
          <p:nvPr/>
        </p:nvSpPr>
        <p:spPr>
          <a:xfrm rot="5400000" flipH="1">
            <a:off x="-27100" y="4612200"/>
            <a:ext cx="536100" cy="5265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3" name="Google Shape;243;p29"/>
          <p:cNvSpPr/>
          <p:nvPr/>
        </p:nvSpPr>
        <p:spPr>
          <a:xfrm flipH="1">
            <a:off x="171200" y="4469010"/>
            <a:ext cx="526500" cy="526500"/>
          </a:xfrm>
          <a:prstGeom prst="ellipse">
            <a:avLst/>
          </a:prstGeom>
          <a:solidFill>
            <a:srgbClr val="0584A4">
              <a:alpha val="31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7819550" y="-3825506"/>
            <a:ext cx="1483500" cy="4365000"/>
          </a:xfrm>
          <a:prstGeom prst="roundRect">
            <a:avLst>
              <a:gd name="adj" fmla="val 50000"/>
            </a:avLst>
          </a:prstGeom>
          <a:solidFill>
            <a:srgbClr val="FFFFFF">
              <a:alpha val="41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7" r:id="rId4"/>
    <p:sldLayoutId id="214748367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ctrTitle"/>
          </p:nvPr>
        </p:nvSpPr>
        <p:spPr>
          <a:xfrm>
            <a:off x="594523" y="405705"/>
            <a:ext cx="7954953" cy="200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3600" dirty="0">
                <a:latin typeface="Digi Rastin Plus Line" panose="02000806080000060004" pitchFamily="2" charset="-78"/>
                <a:cs typeface="B Nazanin" panose="00000400000000000000" pitchFamily="2" charset="-78"/>
              </a:rPr>
              <a:t>سامانه هوشمند تشخیص </a:t>
            </a:r>
            <a:r>
              <a:rPr lang="fa-IR" sz="3600" dirty="0" err="1">
                <a:latin typeface="Digi Rastin Plus Line" panose="02000806080000060004" pitchFamily="2" charset="-78"/>
                <a:cs typeface="B Nazanin" panose="00000400000000000000" pitchFamily="2" charset="-78"/>
              </a:rPr>
              <a:t>آنامولی</a:t>
            </a:r>
            <a:r>
              <a:rPr lang="fa-IR" sz="3600" dirty="0">
                <a:latin typeface="Digi Rastin Plus Line" panose="02000806080000060004" pitchFamily="2" charset="-78"/>
                <a:cs typeface="B Nazanin" panose="00000400000000000000" pitchFamily="2" charset="-78"/>
              </a:rPr>
              <a:t> صدا در </a:t>
            </a:r>
            <a:r>
              <a:rPr lang="fa-IR" sz="3600" dirty="0" err="1">
                <a:latin typeface="Digi Rastin Plus Line" panose="02000806080000060004" pitchFamily="2" charset="-78"/>
                <a:cs typeface="B Nazanin" panose="00000400000000000000" pitchFamily="2" charset="-78"/>
              </a:rPr>
              <a:t>محیط‌های</a:t>
            </a:r>
            <a:r>
              <a:rPr lang="fa-IR" sz="3600" dirty="0">
                <a:latin typeface="Digi Rastin Plus Line" panose="02000806080000060004" pitchFamily="2" charset="-78"/>
                <a:cs typeface="B Nazanin" panose="00000400000000000000" pitchFamily="2" charset="-78"/>
              </a:rPr>
              <a:t> کاری و تجاری</a:t>
            </a:r>
          </a:p>
        </p:txBody>
      </p:sp>
      <p:sp>
        <p:nvSpPr>
          <p:cNvPr id="4" name="Google Shape;261;p34">
            <a:extLst>
              <a:ext uri="{FF2B5EF4-FFF2-40B4-BE49-F238E27FC236}">
                <a16:creationId xmlns:a16="http://schemas.microsoft.com/office/drawing/2014/main" id="{F4E3B8B4-6730-7D85-5641-E06494594626}"/>
              </a:ext>
            </a:extLst>
          </p:cNvPr>
          <p:cNvSpPr txBox="1">
            <a:spLocks/>
          </p:cNvSpPr>
          <p:nvPr/>
        </p:nvSpPr>
        <p:spPr>
          <a:xfrm>
            <a:off x="1112099" y="3352598"/>
            <a:ext cx="6919800" cy="428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3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"/>
              <a:buNone/>
              <a:defRPr sz="5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fa-IR" sz="1750" dirty="0">
                <a:latin typeface="IRANSans" panose="02040503050201020203" pitchFamily="18" charset="-78"/>
                <a:ea typeface="Teshrin AR+LT ExtraLight" panose="02000000000000000000" pitchFamily="50" charset="-78"/>
                <a:cs typeface="B Nazanin" panose="00000400000000000000" pitchFamily="2" charset="-78"/>
              </a:rPr>
              <a:t>حسین صفایی</a:t>
            </a:r>
            <a:endParaRPr lang="en-CA" sz="1750" dirty="0">
              <a:latin typeface="IRANSans" panose="02040503050201020203" pitchFamily="18" charset="-78"/>
              <a:ea typeface="Teshrin AR+LT ExtraLight" panose="02000000000000000000" pitchFamily="50" charset="-78"/>
              <a:cs typeface="B Nazanin" panose="000004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sz="1750" dirty="0">
                <a:latin typeface="IRANSans" panose="02040503050201020203" pitchFamily="18" charset="-78"/>
                <a:ea typeface="Teshrin AR+LT ExtraLight" panose="02000000000000000000" pitchFamily="50" charset="-78"/>
                <a:cs typeface="B Nazanin" panose="00000400000000000000" pitchFamily="2" charset="-78"/>
              </a:rPr>
              <a:t>استاد راهنما: دکتر یاسر شکفته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230F3C-7A0C-1034-36A7-1C9A91E77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026" y="59473"/>
            <a:ext cx="11049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FDF1-A814-75B8-1572-5B482276A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478D03FF-22FD-8AAF-2928-715F766CE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3825" y="93789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فهرست مطالب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C6BA38-DB19-9071-91FC-695D6BD78EAD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CF1D2D-33B3-465F-BF23-12D04974AFB6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۲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F32276-5142-3A96-1FF3-48BFB3D80E43}"/>
              </a:ext>
            </a:extLst>
          </p:cNvPr>
          <p:cNvSpPr/>
          <p:nvPr/>
        </p:nvSpPr>
        <p:spPr>
          <a:xfrm>
            <a:off x="7664062" y="2470062"/>
            <a:ext cx="452769" cy="452741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11265BE-B7D0-A8CA-FD80-7B739562EBCF}"/>
              </a:ext>
            </a:extLst>
          </p:cNvPr>
          <p:cNvSpPr/>
          <p:nvPr/>
        </p:nvSpPr>
        <p:spPr>
          <a:xfrm>
            <a:off x="7654443" y="1904711"/>
            <a:ext cx="452769" cy="452741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F140F44-A98B-5246-5522-D5A07278526C}"/>
              </a:ext>
            </a:extLst>
          </p:cNvPr>
          <p:cNvSpPr/>
          <p:nvPr/>
        </p:nvSpPr>
        <p:spPr>
          <a:xfrm>
            <a:off x="7654443" y="1339360"/>
            <a:ext cx="452769" cy="452741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8F96CE0-B4F4-7E40-92F0-8EAC88DCBCAA}"/>
              </a:ext>
            </a:extLst>
          </p:cNvPr>
          <p:cNvSpPr/>
          <p:nvPr/>
        </p:nvSpPr>
        <p:spPr>
          <a:xfrm>
            <a:off x="7664062" y="3025133"/>
            <a:ext cx="452769" cy="452741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E96902-D87A-1B2B-8DF2-6BDD3BD56A9E}"/>
              </a:ext>
            </a:extLst>
          </p:cNvPr>
          <p:cNvSpPr txBox="1"/>
          <p:nvPr/>
        </p:nvSpPr>
        <p:spPr>
          <a:xfrm>
            <a:off x="5546174" y="1369106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مروری بر کارهای پیشین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693786-9F51-95B6-1519-B1D2CE1F957F}"/>
              </a:ext>
            </a:extLst>
          </p:cNvPr>
          <p:cNvSpPr txBox="1"/>
          <p:nvPr/>
        </p:nvSpPr>
        <p:spPr>
          <a:xfrm>
            <a:off x="6238668" y="1931026"/>
            <a:ext cx="1415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روش پیشنهادی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196AF6-7A4E-7792-032E-68ED9C5F6ED7}"/>
              </a:ext>
            </a:extLst>
          </p:cNvPr>
          <p:cNvSpPr txBox="1"/>
          <p:nvPr/>
        </p:nvSpPr>
        <p:spPr>
          <a:xfrm>
            <a:off x="6798118" y="3012528"/>
            <a:ext cx="856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چالش‌ها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1168D5-9684-87D3-63FE-4FBE3BFB0446}"/>
              </a:ext>
            </a:extLst>
          </p:cNvPr>
          <p:cNvSpPr txBox="1"/>
          <p:nvPr/>
        </p:nvSpPr>
        <p:spPr>
          <a:xfrm>
            <a:off x="7078641" y="2492946"/>
            <a:ext cx="575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نتایج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AEE3ABA-7DFD-346C-0157-ABCC1328522E}"/>
              </a:ext>
            </a:extLst>
          </p:cNvPr>
          <p:cNvSpPr/>
          <p:nvPr/>
        </p:nvSpPr>
        <p:spPr>
          <a:xfrm>
            <a:off x="7664062" y="3590484"/>
            <a:ext cx="452769" cy="452741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383E55-CBDD-E820-91B3-731091C54BA8}"/>
              </a:ext>
            </a:extLst>
          </p:cNvPr>
          <p:cNvSpPr txBox="1"/>
          <p:nvPr/>
        </p:nvSpPr>
        <p:spPr>
          <a:xfrm>
            <a:off x="6233854" y="3616786"/>
            <a:ext cx="1420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پژوهش‌های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آتی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BBFCE23-1C17-5830-6861-208CA6E87F14}"/>
              </a:ext>
            </a:extLst>
          </p:cNvPr>
          <p:cNvSpPr/>
          <p:nvPr/>
        </p:nvSpPr>
        <p:spPr>
          <a:xfrm>
            <a:off x="7664062" y="4155835"/>
            <a:ext cx="452769" cy="452741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AB08B5-B50B-1D61-D68D-1033143879FD}"/>
              </a:ext>
            </a:extLst>
          </p:cNvPr>
          <p:cNvSpPr txBox="1"/>
          <p:nvPr/>
        </p:nvSpPr>
        <p:spPr>
          <a:xfrm>
            <a:off x="6655444" y="4182137"/>
            <a:ext cx="998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جمع‌بندی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7E9896-A471-179C-26F8-24479E9BEDB2}"/>
              </a:ext>
            </a:extLst>
          </p:cNvPr>
          <p:cNvSpPr/>
          <p:nvPr/>
        </p:nvSpPr>
        <p:spPr>
          <a:xfrm>
            <a:off x="7654436" y="780870"/>
            <a:ext cx="452769" cy="452741"/>
          </a:xfrm>
          <a:prstGeom prst="ellipse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5D157F-17A4-2470-F9A0-BE93826DE903}"/>
              </a:ext>
            </a:extLst>
          </p:cNvPr>
          <p:cNvSpPr txBox="1"/>
          <p:nvPr/>
        </p:nvSpPr>
        <p:spPr>
          <a:xfrm>
            <a:off x="6618575" y="810616"/>
            <a:ext cx="1035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بیان مسئله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1723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C005234E-32FB-FF1A-17DD-05719FB9E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3825" y="93789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بیان مسئله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20847F-45D0-AC1F-7EBC-ED29A0CB7CD9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CA4987-A61E-BAB8-8FCC-CE084668A2BF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۳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2BBE7-B35E-A0C8-0B14-B9A42281C65B}"/>
              </a:ext>
            </a:extLst>
          </p:cNvPr>
          <p:cNvSpPr txBox="1"/>
          <p:nvPr/>
        </p:nvSpPr>
        <p:spPr>
          <a:xfrm>
            <a:off x="1990406" y="1066193"/>
            <a:ext cx="6126425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فقدان </a:t>
            </a:r>
            <a:r>
              <a:rPr lang="fa-IR" sz="24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سامانه‌های</a:t>
            </a:r>
            <a:r>
              <a:rPr lang="fa-IR" sz="24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تشخیص صوتی هوشمند</a:t>
            </a:r>
            <a:endParaRPr lang="en-GB" sz="24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تشخیص رخدادهای </a:t>
            </a:r>
            <a:r>
              <a:rPr lang="fa-IR" sz="24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کوتاه‌مدت</a:t>
            </a:r>
            <a:r>
              <a:rPr lang="fa-IR" sz="24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، بلند مدت و</a:t>
            </a: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پر </a:t>
            </a:r>
            <a:r>
              <a:rPr lang="fa-IR" sz="24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نویز</a:t>
            </a: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نادر</a:t>
            </a:r>
            <a:endParaRPr lang="en-GB" sz="24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کارایی پایین </a:t>
            </a:r>
            <a:r>
              <a:rPr lang="fa-IR" sz="24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مدل‌های</a:t>
            </a:r>
            <a:r>
              <a:rPr lang="fa-IR" sz="24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بر اساس فرکانس یا زمان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ترکیب </a:t>
            </a:r>
            <a:r>
              <a:rPr lang="fa-IR" sz="24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اطلاعات زمانی و فرکانسی</a:t>
            </a: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 برای بهبود دقت</a:t>
            </a:r>
            <a:endParaRPr lang="en-GB" sz="24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کمبود مجموعه‌ </a:t>
            </a:r>
            <a:r>
              <a:rPr lang="fa-IR" sz="24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دادگان</a:t>
            </a:r>
            <a:endParaRPr lang="fa-IR" sz="2400" i="0" u="none" strike="noStrike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4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هدف: </a:t>
            </a: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مدلی </a:t>
            </a:r>
            <a:r>
              <a:rPr lang="fa-IR" sz="24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چندکلاسه</a:t>
            </a: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، </a:t>
            </a:r>
            <a:r>
              <a:rPr lang="fa-IR" sz="24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سبک</a:t>
            </a:r>
            <a:r>
              <a:rPr lang="fa-IR" sz="24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، دقیق و </a:t>
            </a:r>
            <a:r>
              <a:rPr lang="fa-IR" sz="24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مقاوم به </a:t>
            </a:r>
            <a:r>
              <a:rPr lang="fa-IR" sz="24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نویز</a:t>
            </a:r>
            <a:endParaRPr lang="en-GB" sz="24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0610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C005234E-32FB-FF1A-17DD-05719FB9E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مروری بر کارهای پیشین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20847F-45D0-AC1F-7EBC-ED29A0CB7CD9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CA4987-A61E-BAB8-8FCC-CE084668A2BF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۴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C2C232-7672-589A-F204-C7891E510D53}"/>
              </a:ext>
            </a:extLst>
          </p:cNvPr>
          <p:cNvSpPr txBox="1"/>
          <p:nvPr/>
        </p:nvSpPr>
        <p:spPr>
          <a:xfrm>
            <a:off x="4385161" y="989768"/>
            <a:ext cx="407391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استفاده از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مدل‌های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عمیق مانند 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CRNN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مبتنی بر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ویژگی‌های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زمانی یا فرکانسی</a:t>
            </a:r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روش‌های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سنتی یادگیری ماشین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با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بهره‌گیری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از 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LSTM</a:t>
            </a:r>
            <a:endParaRPr lang="fa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تشخیص با جداسازی صداها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آموزش یک مدل عمیق برای یک کلاس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algn="r" rtl="1">
              <a:lnSpc>
                <a:spcPct val="150000"/>
              </a:lnSpc>
            </a:pP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9713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C005234E-32FB-FF1A-17DD-05719FB9E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مجموعه </a:t>
            </a:r>
            <a:r>
              <a:rPr lang="fa-IR" sz="2400" dirty="0" err="1">
                <a:latin typeface="IRNazanin" panose="02000506000000020002" pitchFamily="2" charset="-78"/>
                <a:cs typeface="IRNazanin" panose="02000506000000020002" pitchFamily="2" charset="-78"/>
              </a:rPr>
              <a:t>دادگان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20847F-45D0-AC1F-7EBC-ED29A0CB7CD9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CA4987-A61E-BAB8-8FCC-CE084668A2BF}"/>
              </a:ext>
            </a:extLst>
          </p:cNvPr>
          <p:cNvSpPr txBox="1"/>
          <p:nvPr/>
        </p:nvSpPr>
        <p:spPr>
          <a:xfrm>
            <a:off x="8116831" y="4583060"/>
            <a:ext cx="684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۵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endParaRPr lang="en-US" dirty="0">
              <a:solidFill>
                <a:schemeClr val="accent5"/>
              </a:solidFill>
              <a:latin typeface="IRANSans(FaNum) Medium" panose="02040503050201020203" pitchFamily="18" charset="-78"/>
              <a:cs typeface="IRANSans(FaNum) Medium" panose="02040503050201020203" pitchFamily="18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2CC8D-7BDC-9432-90DE-C3A7D5E36635}"/>
              </a:ext>
            </a:extLst>
          </p:cNvPr>
          <p:cNvSpPr txBox="1"/>
          <p:nvPr/>
        </p:nvSpPr>
        <p:spPr>
          <a:xfrm>
            <a:off x="1690418" y="1239189"/>
            <a:ext cx="2207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DCASE 2017 task 2</a:t>
            </a:r>
            <a:endParaRPr lang="en-IR" sz="2000" b="1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E4C02-C1E0-6BC0-7C76-2032D8CA86B2}"/>
              </a:ext>
            </a:extLst>
          </p:cNvPr>
          <p:cNvSpPr txBox="1"/>
          <p:nvPr/>
        </p:nvSpPr>
        <p:spPr>
          <a:xfrm>
            <a:off x="6038140" y="1239189"/>
            <a:ext cx="1998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en-US" sz="20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LibriSpeech</a:t>
            </a:r>
            <a:r>
              <a:rPr lang="en-US" sz="2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100</a:t>
            </a:r>
            <a:endParaRPr lang="en-IR" sz="2000" b="1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A408E-A60A-41ED-5D5B-E61F2FD3364E}"/>
              </a:ext>
            </a:extLst>
          </p:cNvPr>
          <p:cNvSpPr txBox="1"/>
          <p:nvPr/>
        </p:nvSpPr>
        <p:spPr>
          <a:xfrm>
            <a:off x="6117856" y="1860684"/>
            <a:ext cx="1839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گفتار</a:t>
            </a:r>
          </a:p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۱۰۰ ساعت</a:t>
            </a:r>
          </a:p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۲۵۰ نفر مختلف</a:t>
            </a:r>
          </a:p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بدون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نویز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C353E-FB50-DF8E-FDCC-53AC2B93A4E0}"/>
              </a:ext>
            </a:extLst>
          </p:cNvPr>
          <p:cNvSpPr txBox="1"/>
          <p:nvPr/>
        </p:nvSpPr>
        <p:spPr>
          <a:xfrm>
            <a:off x="951571" y="1860685"/>
            <a:ext cx="38686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شلیک گلوله، شکستن شیشه و گریه نوزاد</a:t>
            </a:r>
          </a:p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۱۲ ساعت</a:t>
            </a:r>
          </a:p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۵۰۰ تا نمونه برای هر کلاس</a:t>
            </a:r>
          </a:p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بدون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نویز</a:t>
            </a:r>
            <a:endParaRPr lang="fa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دارای ۱۱۰۰ نمونه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نویزهای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شهری، طبیعت، اداری و خانگی</a:t>
            </a:r>
          </a:p>
        </p:txBody>
      </p:sp>
    </p:spTree>
    <p:extLst>
      <p:ext uri="{BB962C8B-B14F-4D97-AF65-F5344CB8AC3E}">
        <p14:creationId xmlns:p14="http://schemas.microsoft.com/office/powerpoint/2010/main" val="882199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2A401-7879-4C97-EEAC-93D9963B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54F86DE9-FD3B-59BC-696B-B81C0B820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ساخت مجموعه </a:t>
            </a:r>
            <a:r>
              <a:rPr lang="fa-IR" sz="2400" dirty="0" err="1">
                <a:latin typeface="IRNazanin" panose="02000506000000020002" pitchFamily="2" charset="-78"/>
                <a:cs typeface="IRNazanin" panose="02000506000000020002" pitchFamily="2" charset="-78"/>
              </a:rPr>
              <a:t>دادگان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8FC480-2841-604E-B3C9-9AF9623A3E51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5B8BE5-3E0C-A550-46A7-1E60899A94DD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۶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2D5CD-39F3-C25A-40E5-E2226A0E40DB}"/>
              </a:ext>
            </a:extLst>
          </p:cNvPr>
          <p:cNvSpPr txBox="1"/>
          <p:nvPr/>
        </p:nvSpPr>
        <p:spPr>
          <a:xfrm>
            <a:off x="4791309" y="1385219"/>
            <a:ext cx="34048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نرخ نمونه‌برداری۱۶۰۰۰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هرتز</a:t>
            </a:r>
            <a:endParaRPr lang="fa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طول هر نمونه: ۱۰ ثانیه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۵ کلاس گریه نوزاد، شکستن شیشه، شلیک گلوله، گفتار و بدون رخداد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حداکثر یک رخداد در هر نمونه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۷۰۰۰ نمونه برای آموزش، ۱۵۰۰ برای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اعتبارسنجی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و ۱۵۰۰ برای تست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AFEFC-C1E1-D99F-E2A4-15B91402E86C}"/>
              </a:ext>
            </a:extLst>
          </p:cNvPr>
          <p:cNvSpPr txBox="1"/>
          <p:nvPr/>
        </p:nvSpPr>
        <p:spPr>
          <a:xfrm>
            <a:off x="947853" y="1385219"/>
            <a:ext cx="34048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۳۵۰۰ نمونه بدون رویداد و بقیه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کلاس‌ها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حدود ۱۶۰۰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دارای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نویز</a:t>
            </a:r>
            <a:endParaRPr lang="fa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طول هر رویدادها بین ۰.۳ تا ۴ ثانیه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جایگذاری تصادفی رویداد در نمونه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نسبت سیگنال به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نویز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بین ۳- تا ۱۵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دسی‌بل</a:t>
            </a:r>
            <a:endParaRPr lang="fa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تک‌کاناله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3099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E167-73CD-5805-2364-7B24FB16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3185EC69-357B-C0B2-7EC7-061F2A2FE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روش پیشنهادی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8C5E6F-0777-EBEB-0D82-FB2C2C539CAB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C208B0-C285-FBAB-7576-2B91C0E8EA5A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۷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4588F-9BF0-E35C-9F1C-01E4FE92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83" y="1758950"/>
            <a:ext cx="5613400" cy="162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09CFC8-4624-BB07-5292-6AD0A3B6D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773" y="1289050"/>
            <a:ext cx="18923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62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CEA9-0314-B8BF-F1CE-8CFC0653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ED48E0C0-C552-CAE5-DB84-924416BB8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روش پیشنهادی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4AF846-4FF2-FCD5-E8DA-D0334635A07D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975A43-9D4D-E699-561A-999C0A1777D1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۸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748B4-EA8B-0112-94D8-3116DEE4E975}"/>
              </a:ext>
            </a:extLst>
          </p:cNvPr>
          <p:cNvSpPr txBox="1"/>
          <p:nvPr/>
        </p:nvSpPr>
        <p:spPr>
          <a:xfrm>
            <a:off x="3330498" y="1055649"/>
            <a:ext cx="5032917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استفاده از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طبقه‌بند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MobileFaceNet</a:t>
            </a:r>
            <a:endParaRPr lang="fa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342900" marR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Tgram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برای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ویژگی‌های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زمانی</a:t>
            </a:r>
          </a:p>
          <a:p>
            <a:pPr marL="342900" marR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STFT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و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لاگ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مل برای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ویژگی‌های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فرکانسی</a:t>
            </a:r>
            <a:endParaRPr lang="en-US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342900" marR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ترکیب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ویژگی‌های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زمانی و فرکانسی</a:t>
            </a:r>
          </a:p>
          <a:p>
            <a:pPr marL="342900" marR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لایه </a:t>
            </a:r>
            <a:r>
              <a:rPr lang="en-US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FC 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به همراه </a:t>
            </a:r>
            <a:r>
              <a:rPr lang="en-US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Softmax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برای پیشبینی نهایی</a:t>
            </a:r>
          </a:p>
          <a:p>
            <a:pPr marL="342900" marR="0" indent="-3429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99434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D6655-7492-6964-A3F5-3685BE687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92EB5122-CEAB-B468-374F-DD0F10F17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رابط کاربری سامانه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848EF9-1046-A6FF-9F99-71E6E4B5A217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5BD544-58ED-268F-0403-17AA51A335F5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۹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232A6-BBDB-F7F2-D2F7-678F3011F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17" y="1314927"/>
            <a:ext cx="5312007" cy="2776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E97539-2386-BADD-31E3-15B6E2DF92CB}"/>
              </a:ext>
            </a:extLst>
          </p:cNvPr>
          <p:cNvSpPr txBox="1"/>
          <p:nvPr/>
        </p:nvSpPr>
        <p:spPr>
          <a:xfrm>
            <a:off x="6170341" y="1427670"/>
            <a:ext cx="2364059" cy="2550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800" dirty="0" err="1">
                <a:latin typeface="IRNazanin" panose="02000506000000020002" pitchFamily="2" charset="-78"/>
                <a:cs typeface="IRNazanin" panose="02000506000000020002" pitchFamily="2" charset="-78"/>
              </a:rPr>
              <a:t>بارگذاری</a:t>
            </a:r>
            <a:r>
              <a:rPr lang="fa-IR" sz="1800" dirty="0">
                <a:latin typeface="IRNazanin" panose="02000506000000020002" pitchFamily="2" charset="-78"/>
                <a:cs typeface="IRNazanin" panose="02000506000000020002" pitchFamily="2" charset="-78"/>
              </a:rPr>
              <a:t> صدا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latin typeface="IRNazanin" panose="02000506000000020002" pitchFamily="2" charset="-78"/>
                <a:cs typeface="IRNazanin" panose="02000506000000020002" pitchFamily="2" charset="-78"/>
              </a:rPr>
              <a:t>ورودی با میکروفون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latin typeface="IRNazanin" panose="02000506000000020002" pitchFamily="2" charset="-78"/>
                <a:cs typeface="IRNazanin" panose="02000506000000020002" pitchFamily="2" charset="-78"/>
              </a:rPr>
              <a:t>انتخاب </a:t>
            </a:r>
            <a:r>
              <a:rPr lang="fa-IR" sz="1800" dirty="0" err="1">
                <a:latin typeface="IRNazanin" panose="02000506000000020002" pitchFamily="2" charset="-78"/>
                <a:cs typeface="IRNazanin" panose="02000506000000020002" pitchFamily="2" charset="-78"/>
              </a:rPr>
              <a:t>میکروفون‌ها</a:t>
            </a:r>
            <a:endParaRPr lang="fa-IR" sz="1800" dirty="0"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latin typeface="IRNazanin" panose="02000506000000020002" pitchFamily="2" charset="-78"/>
                <a:cs typeface="IRNazanin" panose="02000506000000020002" pitchFamily="2" charset="-78"/>
              </a:rPr>
              <a:t>داشتن </a:t>
            </a:r>
            <a:r>
              <a:rPr lang="fa-IR" sz="1800" dirty="0" err="1">
                <a:latin typeface="IRNazanin" panose="02000506000000020002" pitchFamily="2" charset="-78"/>
                <a:cs typeface="IRNazanin" panose="02000506000000020002" pitchFamily="2" charset="-78"/>
              </a:rPr>
              <a:t>لاگ</a:t>
            </a:r>
            <a:r>
              <a:rPr lang="fa-IR" sz="1800" dirty="0">
                <a:latin typeface="IRNazanin" panose="02000506000000020002" pitchFamily="2" charset="-78"/>
                <a:cs typeface="IRNazanin" panose="02000506000000020002" pitchFamily="2" charset="-78"/>
              </a:rPr>
              <a:t> با زمان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800" dirty="0">
                <a:latin typeface="IRNazanin" panose="02000506000000020002" pitchFamily="2" charset="-78"/>
                <a:cs typeface="IRNazanin" panose="02000506000000020002" pitchFamily="2" charset="-78"/>
              </a:rPr>
              <a:t>نشان دادن </a:t>
            </a:r>
            <a:r>
              <a:rPr lang="fa-IR" sz="1800" dirty="0" err="1">
                <a:latin typeface="IRNazanin" panose="02000506000000020002" pitchFamily="2" charset="-78"/>
                <a:cs typeface="IRNazanin" panose="02000506000000020002" pitchFamily="2" charset="-78"/>
              </a:rPr>
              <a:t>تشخیص‌ها</a:t>
            </a:r>
            <a:r>
              <a:rPr lang="fa-IR" sz="1800" dirty="0">
                <a:latin typeface="IRNazanin" panose="02000506000000020002" pitchFamily="2" charset="-78"/>
                <a:cs typeface="IRNazanin" panose="02000506000000020002" pitchFamily="2" charset="-78"/>
              </a:rPr>
              <a:t> با اطمینان </a:t>
            </a:r>
            <a:endParaRPr lang="en-IR" sz="18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16578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2149D-567D-63ED-2D82-D255CDFF2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8AC4D7B7-7470-7C2D-F6B1-3CE25B8D7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نتایج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774782-158D-49C5-9F9A-256A0A34D146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7CADAC-F759-C9BD-F6BF-0978B118E85E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۱۰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A36F0A-F5CE-C197-623A-B27A4532E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355785"/>
              </p:ext>
            </p:extLst>
          </p:nvPr>
        </p:nvGraphicFramePr>
        <p:xfrm>
          <a:off x="2394561" y="1273810"/>
          <a:ext cx="4354878" cy="2595880"/>
        </p:xfrm>
        <a:graphic>
          <a:graphicData uri="http://schemas.openxmlformats.org/drawingml/2006/table">
            <a:tbl>
              <a:tblPr firstRow="1" bandRow="1">
                <a:tableStyleId>{A3E338CC-EE3A-4028-9C5C-8A8CE8757631}</a:tableStyleId>
              </a:tblPr>
              <a:tblGrid>
                <a:gridCol w="979776">
                  <a:extLst>
                    <a:ext uri="{9D8B030D-6E8A-4147-A177-3AD203B41FA5}">
                      <a16:colId xmlns:a16="http://schemas.microsoft.com/office/drawing/2014/main" val="743335098"/>
                    </a:ext>
                  </a:extLst>
                </a:gridCol>
                <a:gridCol w="1107688">
                  <a:extLst>
                    <a:ext uri="{9D8B030D-6E8A-4147-A177-3AD203B41FA5}">
                      <a16:colId xmlns:a16="http://schemas.microsoft.com/office/drawing/2014/main" val="1495686290"/>
                    </a:ext>
                  </a:extLst>
                </a:gridCol>
                <a:gridCol w="1048214">
                  <a:extLst>
                    <a:ext uri="{9D8B030D-6E8A-4147-A177-3AD203B41FA5}">
                      <a16:colId xmlns:a16="http://schemas.microsoft.com/office/drawing/2014/main" val="424978603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50793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F1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Accuracy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Precision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a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کلاس</a:t>
                      </a:r>
                      <a:endParaRPr lang="en-IR" sz="16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IRNazanin" panose="02000506000000020002" pitchFamily="2" charset="-78"/>
                        <a:ea typeface="Times New Roman" panose="02020603050405020304" pitchFamily="18" charset="0"/>
                        <a:cs typeface="IRNazanin" panose="02000506000000020002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370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93.2%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93.4%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93.1%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a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بدون رویداد</a:t>
                      </a:r>
                      <a:endParaRPr lang="en-IR" sz="16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IRNazanin" panose="02000506000000020002" pitchFamily="2" charset="-78"/>
                        <a:ea typeface="Times New Roman" panose="02020603050405020304" pitchFamily="18" charset="0"/>
                        <a:cs typeface="IRNazanin" panose="02000506000000020002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275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92.9%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91.1%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91.7%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a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گریه نوزاد</a:t>
                      </a:r>
                      <a:endParaRPr lang="en-IR" sz="16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IRNazanin" panose="02000506000000020002" pitchFamily="2" charset="-78"/>
                        <a:ea typeface="Times New Roman" panose="02020603050405020304" pitchFamily="18" charset="0"/>
                        <a:cs typeface="IRNazanin" panose="02000506000000020002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5735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92.3%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</a:t>
                      </a:r>
                      <a:r>
                        <a:rPr lang="en-US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2</a:t>
                      </a: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.2%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92.5%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a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شلیک گلوله</a:t>
                      </a:r>
                      <a:endParaRPr lang="en-IR" sz="16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IRNazanin" panose="02000506000000020002" pitchFamily="2" charset="-78"/>
                        <a:ea typeface="Times New Roman" panose="02020603050405020304" pitchFamily="18" charset="0"/>
                        <a:cs typeface="IRNazanin" panose="02000506000000020002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93.2%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92.9%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93.6%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a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شکستن شیشه</a:t>
                      </a:r>
                      <a:endParaRPr lang="en-IR" sz="16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IRNazanin" panose="02000506000000020002" pitchFamily="2" charset="-78"/>
                        <a:ea typeface="Times New Roman" panose="02020603050405020304" pitchFamily="18" charset="0"/>
                        <a:cs typeface="IRNazanin" panose="02000506000000020002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621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90.4%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90.1%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90.8%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a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گفتار</a:t>
                      </a:r>
                      <a:endParaRPr lang="en-IR" sz="16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IRNazanin" panose="02000506000000020002" pitchFamily="2" charset="-78"/>
                        <a:ea typeface="Times New Roman" panose="02020603050405020304" pitchFamily="18" charset="0"/>
                        <a:cs typeface="IRNazanin" panose="02000506000000020002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0048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92.4%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91.9%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92.3%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fa-IR" sz="16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IRNazanin" panose="02000506000000020002" pitchFamily="2" charset="-78"/>
                          <a:ea typeface="Times New Roman" panose="02020603050405020304" pitchFamily="18" charset="0"/>
                          <a:cs typeface="IRNazanin" panose="02000506000000020002" pitchFamily="2" charset="-78"/>
                        </a:rPr>
                        <a:t>میانگین</a:t>
                      </a:r>
                      <a:endParaRPr lang="en-IR" sz="16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IRNazanin" panose="02000506000000020002" pitchFamily="2" charset="-78"/>
                        <a:ea typeface="Times New Roman" panose="02020603050405020304" pitchFamily="18" charset="0"/>
                        <a:cs typeface="IRNazanin" panose="02000506000000020002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5360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109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EA42-7269-1ED1-1D19-618E8524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DF15A1EB-CFB7-CA60-D6C7-13FF2A7378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 err="1">
                <a:latin typeface="IRNazanin" panose="02000506000000020002" pitchFamily="2" charset="-78"/>
                <a:cs typeface="IRNazanin" panose="02000506000000020002" pitchFamily="2" charset="-78"/>
              </a:rPr>
              <a:t>چالش‌ها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16802-32BC-2D8C-5C64-94D0EAFE2110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477BEF-0235-9A9D-5F70-64A2EB29C569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۱۱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65D9F-F297-F0E8-FADC-A1C5605D90FC}"/>
              </a:ext>
            </a:extLst>
          </p:cNvPr>
          <p:cNvSpPr txBox="1"/>
          <p:nvPr/>
        </p:nvSpPr>
        <p:spPr>
          <a:xfrm>
            <a:off x="2504321" y="1159825"/>
            <a:ext cx="5954752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وجود 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نویز</a:t>
            </a: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شدید و متنوع محیطی</a:t>
            </a: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کمبود </a:t>
            </a:r>
            <a:r>
              <a:rPr lang="fa-IR" sz="20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داده‌های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واقعی</a:t>
            </a: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نیاز به 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مدل‌های</a:t>
            </a: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سبک و 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کم‌هزینه</a:t>
            </a: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محاسباتی</a:t>
            </a:r>
            <a:endParaRPr lang="fa-IR" sz="2000" i="0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متفاوت بودن طول 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رویدادها</a:t>
            </a:r>
            <a:endParaRPr lang="fa-IR" sz="2000" u="none" strike="noStrike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تعادل بین دقت، سرعت و سبکی مدل</a:t>
            </a:r>
            <a:endParaRPr lang="fa-IR" sz="2000" i="0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تغییر در شدت و دامنه سیگنال صوتی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 </a:t>
            </a:r>
            <a:r>
              <a:rPr lang="fa-IR" sz="20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به‌دلیل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فاصله و نوع میکروفون 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14014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AC312-5214-F9B6-B749-3C69C920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0FCFDE47-29E4-69DF-AFA2-69E8F8F60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پژوهش‌های</a:t>
            </a:r>
            <a:r>
              <a:rPr lang="fa-IR" sz="2400" dirty="0">
                <a:latin typeface="IRNazanin" panose="02000506000000020002" pitchFamily="2" charset="-78"/>
                <a:cs typeface="IRNazanin" panose="02000506000000020002" pitchFamily="2" charset="-78"/>
              </a:rPr>
              <a:t> آتی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39BE19-AABA-F2C4-AC05-6B48C0853A15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B64195-F1D5-7FB0-A4D7-30FFD26386B5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۱۲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ADA25F-3BE9-AE8C-DA69-C6254E3E8549}"/>
              </a:ext>
            </a:extLst>
          </p:cNvPr>
          <p:cNvSpPr txBox="1"/>
          <p:nvPr/>
        </p:nvSpPr>
        <p:spPr>
          <a:xfrm>
            <a:off x="2504321" y="1159825"/>
            <a:ext cx="5954752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افزایش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دادگان</a:t>
            </a:r>
            <a:endParaRPr lang="fa-IR" sz="2000" i="0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افزودن </a:t>
            </a:r>
            <a:r>
              <a:rPr lang="fa-IR" sz="20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کلاس‌های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دیگر</a:t>
            </a: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تشخیص مکان رویداد</a:t>
            </a:r>
            <a:endParaRPr lang="fa-IR" sz="2000" i="0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استقرار روی </a:t>
            </a:r>
            <a:r>
              <a:rPr lang="fa-IR" sz="200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دستگاه‌های</a:t>
            </a:r>
            <a:r>
              <a:rPr lang="fa-IR" sz="200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لبه و نهفته</a:t>
            </a: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تشخیص </a:t>
            </a:r>
            <a:r>
              <a:rPr lang="fa-IR" sz="20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رویداد‌های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همزمان</a:t>
            </a:r>
            <a:endParaRPr lang="fa-IR" sz="2000" i="0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دقیق‌تر</a:t>
            </a: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و 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سبک‌تر</a:t>
            </a: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کردن مدل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25360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8110-3AFE-ED21-7160-5FC4DEAB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6;p36">
            <a:extLst>
              <a:ext uri="{FF2B5EF4-FFF2-40B4-BE49-F238E27FC236}">
                <a16:creationId xmlns:a16="http://schemas.microsoft.com/office/drawing/2014/main" id="{DA665838-4C30-DA6A-58A6-C7BCBCF34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391" y="169224"/>
            <a:ext cx="75951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</a:pPr>
            <a:r>
              <a:rPr lang="fa-IR" sz="2400" dirty="0" err="1">
                <a:latin typeface="IRNazanin" panose="02000506000000020002" pitchFamily="2" charset="-78"/>
                <a:cs typeface="IRNazanin" panose="02000506000000020002" pitchFamily="2" charset="-78"/>
              </a:rPr>
              <a:t>جمع‌بندی</a:t>
            </a:r>
            <a:endParaRPr sz="2400" dirty="0"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6E301A-E2E5-E182-71CA-EB4131498619}"/>
              </a:ext>
            </a:extLst>
          </p:cNvPr>
          <p:cNvCxnSpPr>
            <a:cxnSpLocks/>
          </p:cNvCxnSpPr>
          <p:nvPr/>
        </p:nvCxnSpPr>
        <p:spPr>
          <a:xfrm>
            <a:off x="5395658" y="666489"/>
            <a:ext cx="374834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CDE6C5-D20E-271C-6EE8-A98C2D3BBA8F}"/>
              </a:ext>
            </a:extLst>
          </p:cNvPr>
          <p:cNvSpPr txBox="1"/>
          <p:nvPr/>
        </p:nvSpPr>
        <p:spPr>
          <a:xfrm>
            <a:off x="8116831" y="4583060"/>
            <a:ext cx="68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۱۳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99ACA-E936-5C09-6D37-14871E23FE62}"/>
              </a:ext>
            </a:extLst>
          </p:cNvPr>
          <p:cNvSpPr txBox="1"/>
          <p:nvPr/>
        </p:nvSpPr>
        <p:spPr>
          <a:xfrm>
            <a:off x="1042416" y="1159825"/>
            <a:ext cx="7416657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پیاده‌سازی</a:t>
            </a: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شامل </a:t>
            </a:r>
            <a:r>
              <a:rPr lang="fa-IR" sz="20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پیش‌پردازش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، استخراج ویژگی، آموزش، ارزیابی و استقرار</a:t>
            </a:r>
            <a:endParaRPr lang="fa-IR" sz="2000" i="0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ساخت 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مجموعه‌دادگان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 با ۵ کلاس</a:t>
            </a:r>
            <a:endParaRPr lang="fa-IR" sz="2000" i="0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دقت و عملکرد قابل قبول</a:t>
            </a: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ترکیب </a:t>
            </a:r>
            <a:r>
              <a:rPr lang="fa-IR" sz="20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ویژگی‌های</a:t>
            </a:r>
            <a:r>
              <a:rPr lang="fa-IR" sz="2000" dirty="0">
                <a:solidFill>
                  <a:schemeClr val="tx1">
                    <a:lumMod val="90000"/>
                    <a:lumOff val="10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 زمانی و فرکانسی</a:t>
            </a:r>
            <a:endParaRPr lang="fa-IR" sz="2000" i="0" u="none" strike="noStrike" dirty="0">
              <a:solidFill>
                <a:schemeClr val="tx1">
                  <a:lumMod val="90000"/>
                  <a:lumOff val="10000"/>
                </a:schemeClr>
              </a:solidFill>
              <a:effectLst/>
              <a:latin typeface="IRNazanin" panose="02000506000000020002" pitchFamily="2" charset="-78"/>
              <a:cs typeface="IRNazanin" panose="02000506000000020002" pitchFamily="2" charset="-78"/>
            </a:endParaRP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مدل سبک و 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کم‌هزینه</a:t>
            </a: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محاسباتی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برای </a:t>
            </a:r>
            <a:r>
              <a:rPr lang="fa-IR" sz="2000" i="0" u="none" strike="noStrike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سخت‌افزارهای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 محدود و پردازش بلادرنگ</a:t>
            </a:r>
          </a:p>
          <a:p>
            <a:pPr marL="285750" marR="0" indent="-28575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a-IR" sz="2000" i="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سامانه با </a:t>
            </a:r>
            <a:r>
              <a:rPr lang="fa-IR" sz="2000" i="0" dirty="0" err="1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داشبورد</a:t>
            </a:r>
            <a:r>
              <a:rPr lang="fa-IR" sz="200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IRNazanin" panose="02000506000000020002" pitchFamily="2" charset="-78"/>
                <a:cs typeface="IRNazanin" panose="02000506000000020002" pitchFamily="2" charset="-78"/>
              </a:rPr>
              <a:t> شامل نوع رویداد، زمان وقوع، اطمینان</a:t>
            </a:r>
            <a:endParaRPr lang="en-IR" sz="2000" dirty="0">
              <a:solidFill>
                <a:schemeClr val="tx1">
                  <a:lumMod val="90000"/>
                  <a:lumOff val="10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7826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37"/>
          <p:cNvGrpSpPr/>
          <p:nvPr/>
        </p:nvGrpSpPr>
        <p:grpSpPr>
          <a:xfrm>
            <a:off x="6234375" y="1268000"/>
            <a:ext cx="2678900" cy="6297300"/>
            <a:chOff x="6234375" y="1268000"/>
            <a:chExt cx="2678900" cy="6297300"/>
          </a:xfrm>
        </p:grpSpPr>
        <p:sp>
          <p:nvSpPr>
            <p:cNvPr id="303" name="Google Shape;303;p37"/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206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" name="Google Shape;302;p37">
            <a:extLst>
              <a:ext uri="{FF2B5EF4-FFF2-40B4-BE49-F238E27FC236}">
                <a16:creationId xmlns:a16="http://schemas.microsoft.com/office/drawing/2014/main" id="{044BEA73-AB1D-2128-C083-8736F2B7090F}"/>
              </a:ext>
            </a:extLst>
          </p:cNvPr>
          <p:cNvGrpSpPr/>
          <p:nvPr/>
        </p:nvGrpSpPr>
        <p:grpSpPr>
          <a:xfrm rot="10800000">
            <a:off x="230725" y="-2821031"/>
            <a:ext cx="2678900" cy="6297300"/>
            <a:chOff x="6234375" y="1268000"/>
            <a:chExt cx="2678900" cy="6297300"/>
          </a:xfrm>
        </p:grpSpPr>
        <p:sp>
          <p:nvSpPr>
            <p:cNvPr id="4" name="Google Shape;303;p37">
              <a:extLst>
                <a:ext uri="{FF2B5EF4-FFF2-40B4-BE49-F238E27FC236}">
                  <a16:creationId xmlns:a16="http://schemas.microsoft.com/office/drawing/2014/main" id="{4A367F4F-A2BA-B732-6F63-BC655282B83E}"/>
                </a:ext>
              </a:extLst>
            </p:cNvPr>
            <p:cNvSpPr/>
            <p:nvPr/>
          </p:nvSpPr>
          <p:spPr>
            <a:xfrm>
              <a:off x="7286675" y="1268000"/>
              <a:ext cx="1626600" cy="629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6" name="Google Shape;304;p37">
              <a:extLst>
                <a:ext uri="{FF2B5EF4-FFF2-40B4-BE49-F238E27FC236}">
                  <a16:creationId xmlns:a16="http://schemas.microsoft.com/office/drawing/2014/main" id="{4A029B00-89A2-73B3-E3EA-A8F167C3F3B1}"/>
                </a:ext>
              </a:extLst>
            </p:cNvPr>
            <p:cNvSpPr/>
            <p:nvPr/>
          </p:nvSpPr>
          <p:spPr>
            <a:xfrm>
              <a:off x="6234375" y="2822294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206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21C6E86-EE46-51D8-1186-98D714A2D34A}"/>
              </a:ext>
            </a:extLst>
          </p:cNvPr>
          <p:cNvSpPr txBox="1"/>
          <p:nvPr/>
        </p:nvSpPr>
        <p:spPr>
          <a:xfrm>
            <a:off x="1044025" y="2479892"/>
            <a:ext cx="5293263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fa-IR" sz="2800" b="1" dirty="0">
                <a:solidFill>
                  <a:schemeClr val="tx2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با تشکر از توجه شما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7B823-F9BC-3448-E421-B2DC3B63B1CD}"/>
              </a:ext>
            </a:extLst>
          </p:cNvPr>
          <p:cNvSpPr txBox="1"/>
          <p:nvPr/>
        </p:nvSpPr>
        <p:spPr>
          <a:xfrm>
            <a:off x="2492374" y="3722611"/>
            <a:ext cx="217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fa-IR" sz="1600" dirty="0">
                <a:solidFill>
                  <a:schemeClr val="tx2">
                    <a:lumMod val="75000"/>
                  </a:schemeClr>
                </a:solidFill>
                <a:latin typeface="IRNazanin" panose="02000506000000020002" pitchFamily="2" charset="-78"/>
                <a:cs typeface="IRNazanin" panose="02000506000000020002" pitchFamily="2" charset="-78"/>
              </a:rPr>
              <a:t>فروردین ۱۴۰۵</a:t>
            </a:r>
            <a:endParaRPr lang="en-IR" sz="1600" dirty="0">
              <a:solidFill>
                <a:schemeClr val="tx2">
                  <a:lumMod val="75000"/>
                </a:schemeClr>
              </a:solidFill>
              <a:latin typeface="IRNazanin" panose="02000506000000020002" pitchFamily="2" charset="-78"/>
              <a:cs typeface="IRNazanin" panose="02000506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1767432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ellular Respiration and its Impact on Health Research Thesis Defense by Slidesgo">
  <a:themeElements>
    <a:clrScheme name="Simple Light">
      <a:dk1>
        <a:srgbClr val="0B3550"/>
      </a:dk1>
      <a:lt1>
        <a:srgbClr val="F6F6F6"/>
      </a:lt1>
      <a:dk2>
        <a:srgbClr val="0584A4"/>
      </a:dk2>
      <a:lt2>
        <a:srgbClr val="74CEC4"/>
      </a:lt2>
      <a:accent1>
        <a:srgbClr val="F255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C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7916</TotalTime>
  <Words>479</Words>
  <Application>Microsoft Macintosh PowerPoint</Application>
  <PresentationFormat>On-screen Show (16:9)</PresentationFormat>
  <Paragraphs>126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IRNazanin</vt:lpstr>
      <vt:lpstr>Arial</vt:lpstr>
      <vt:lpstr>Albert Sans</vt:lpstr>
      <vt:lpstr>IRANSans(FaNum) Medium</vt:lpstr>
      <vt:lpstr>Poppins</vt:lpstr>
      <vt:lpstr>IRANSans</vt:lpstr>
      <vt:lpstr>Albert Sans Medium</vt:lpstr>
      <vt:lpstr>Digi Rastin Plus Line</vt:lpstr>
      <vt:lpstr>Cellular Respiration and its Impact on Health Research Thesis Defense by Slidesgo</vt:lpstr>
      <vt:lpstr>سامانه هوشمند تشخیص آنامولی صدا در محیط‌های کاری و تجاری</vt:lpstr>
      <vt:lpstr>فهرست مطالب</vt:lpstr>
      <vt:lpstr>بیان مسئله</vt:lpstr>
      <vt:lpstr>مروری بر کارهای پیشین</vt:lpstr>
      <vt:lpstr>مجموعه دادگان</vt:lpstr>
      <vt:lpstr>ساخت مجموعه دادگان</vt:lpstr>
      <vt:lpstr>روش پیشنهادی</vt:lpstr>
      <vt:lpstr>روش پیشنهادی</vt:lpstr>
      <vt:lpstr>رابط کاربری سامانه</vt:lpstr>
      <vt:lpstr>نتایج</vt:lpstr>
      <vt:lpstr>چالش‌ها</vt:lpstr>
      <vt:lpstr>پژوهش‌های آتی</vt:lpstr>
      <vt:lpstr>جمع‌بندی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سیستم‌های پایش کیفیت هوا در محیط بسته</dc:title>
  <dc:creator>Maryam</dc:creator>
  <cp:lastModifiedBy>hossaf82@gmail.com</cp:lastModifiedBy>
  <cp:revision>160</cp:revision>
  <dcterms:modified xsi:type="dcterms:W3CDTF">2026-04-13T09:34:18Z</dcterms:modified>
</cp:coreProperties>
</file>